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5" r:id="rId8"/>
    <p:sldId id="263" r:id="rId9"/>
    <p:sldId id="264" r:id="rId10"/>
    <p:sldId id="266" r:id="rId11"/>
    <p:sldId id="269" r:id="rId12"/>
    <p:sldId id="275" r:id="rId13"/>
    <p:sldId id="267" r:id="rId14"/>
    <p:sldId id="268" r:id="rId15"/>
    <p:sldId id="270" r:id="rId16"/>
    <p:sldId id="271" r:id="rId17"/>
    <p:sldId id="274"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8A1FCB3-B981-47FF-97A8-DF6E1EA32BA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B932E6-3861-4653-84AD-FAEC5E2BD68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A1FCB3-B981-47FF-97A8-DF6E1EA32BA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B932E6-3861-4653-84AD-FAEC5E2BD68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8A1FCB3-B981-47FF-97A8-DF6E1EA32BA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B932E6-3861-4653-84AD-FAEC5E2BD68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8A1FCB3-B981-47FF-97A8-DF6E1EA32BA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B932E6-3861-4653-84AD-FAEC5E2BD68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8A1FCB3-B981-47FF-97A8-DF6E1EA32BA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B932E6-3861-4653-84AD-FAEC5E2BD68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8A1FCB3-B981-47FF-97A8-DF6E1EA32BA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B932E6-3861-4653-84AD-FAEC5E2BD68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A1FCB3-B981-47FF-97A8-DF6E1EA32BA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B932E6-3861-4653-84AD-FAEC5E2BD68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A1FCB3-B981-47FF-97A8-DF6E1EA32BA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B932E6-3861-4653-84AD-FAEC5E2BD68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A1FCB3-B981-47FF-97A8-DF6E1EA32BA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B932E6-3861-4653-84AD-FAEC5E2BD68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A1FCB3-B981-47FF-97A8-DF6E1EA32BA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B932E6-3861-4653-84AD-FAEC5E2BD68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A1FCB3-B981-47FF-97A8-DF6E1EA32BA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B932E6-3861-4653-84AD-FAEC5E2BD68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A1FCB3-B981-47FF-97A8-DF6E1EA32BA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B932E6-3861-4653-84AD-FAEC5E2BD68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6" name="Picture 4" descr="National Institute of Engineering Logo | NIE Mysore"/>
          <p:cNvPicPr>
            <a:picLocks noChangeAspect="1" noChangeArrowheads="1"/>
          </p:cNvPicPr>
          <p:nvPr/>
        </p:nvPicPr>
        <p:blipFill>
          <a:blip r:embed="rId2"/>
          <a:srcRect l="10340" t="18667" r="19290" b="20533"/>
          <a:stretch>
            <a:fillRect/>
          </a:stretch>
        </p:blipFill>
        <p:spPr bwMode="auto">
          <a:xfrm>
            <a:off x="0" y="0"/>
            <a:ext cx="1143000" cy="1143000"/>
          </a:xfrm>
          <a:prstGeom prst="rect">
            <a:avLst/>
          </a:prstGeom>
          <a:noFill/>
        </p:spPr>
      </p:pic>
      <p:sp>
        <p:nvSpPr>
          <p:cNvPr id="6" name="TextBox 5"/>
          <p:cNvSpPr txBox="1"/>
          <p:nvPr/>
        </p:nvSpPr>
        <p:spPr>
          <a:xfrm>
            <a:off x="914400" y="112693"/>
            <a:ext cx="7848600" cy="954107"/>
          </a:xfrm>
          <a:prstGeom prst="rect">
            <a:avLst/>
          </a:prstGeom>
          <a:noFill/>
        </p:spPr>
        <p:txBody>
          <a:bodyPr wrap="square" rtlCol="0">
            <a:spAutoFit/>
          </a:bodyPr>
          <a:lstStyle/>
          <a:p>
            <a:pPr algn="ctr"/>
            <a:r>
              <a:rPr lang="en-US" sz="2800" b="1" dirty="0" smtClean="0">
                <a:latin typeface="Times New Roman" pitchFamily="18" charset="0"/>
                <a:cs typeface="Times New Roman" pitchFamily="18" charset="0"/>
              </a:rPr>
              <a:t>THE NATIONAL INSTITUTE OF ENGINEERING, MYSORE</a:t>
            </a:r>
            <a:endParaRPr lang="en-US" sz="2800" b="1" dirty="0">
              <a:latin typeface="Times New Roman" pitchFamily="18" charset="0"/>
              <a:cs typeface="Times New Roman" pitchFamily="18" charset="0"/>
            </a:endParaRPr>
          </a:p>
        </p:txBody>
      </p:sp>
      <p:sp>
        <p:nvSpPr>
          <p:cNvPr id="7" name="Rectangle 6"/>
          <p:cNvSpPr/>
          <p:nvPr/>
        </p:nvSpPr>
        <p:spPr>
          <a:xfrm>
            <a:off x="4572000" y="4085272"/>
            <a:ext cx="4572000" cy="1477328"/>
          </a:xfrm>
          <a:prstGeom prst="rect">
            <a:avLst/>
          </a:prstGeom>
        </p:spPr>
        <p:txBody>
          <a:bodyPr>
            <a:spAutoFit/>
          </a:bodyPr>
          <a:lstStyle/>
          <a:p>
            <a:pPr>
              <a:lnSpc>
                <a:spcPts val="2663"/>
              </a:lnSpc>
              <a:spcBef>
                <a:spcPct val="0"/>
              </a:spcBef>
            </a:pPr>
            <a:r>
              <a:rPr lang="en-US" sz="1902" dirty="0" smtClean="0">
                <a:latin typeface="Times New Roman" pitchFamily="18" charset="0"/>
                <a:ea typeface="Agrandir"/>
                <a:cs typeface="Times New Roman" pitchFamily="18" charset="0"/>
                <a:sym typeface="Agrandir"/>
              </a:rPr>
              <a:t>Team Members:</a:t>
            </a:r>
          </a:p>
          <a:p>
            <a:pPr marL="410720" lvl="1" indent="-205360">
              <a:lnSpc>
                <a:spcPts val="2663"/>
              </a:lnSpc>
              <a:spcBef>
                <a:spcPct val="0"/>
              </a:spcBef>
              <a:buFont typeface="Arial"/>
              <a:buChar char="•"/>
            </a:pPr>
            <a:r>
              <a:rPr lang="en-US" sz="1902" dirty="0" err="1" smtClean="0">
                <a:latin typeface="Times New Roman" pitchFamily="18" charset="0"/>
                <a:ea typeface="Agrandir"/>
                <a:cs typeface="Times New Roman" pitchFamily="18" charset="0"/>
                <a:sym typeface="Agrandir"/>
              </a:rPr>
              <a:t>Nischitha</a:t>
            </a:r>
            <a:r>
              <a:rPr lang="en-US" sz="1902" dirty="0" smtClean="0">
                <a:latin typeface="Times New Roman" pitchFamily="18" charset="0"/>
                <a:ea typeface="Agrandir"/>
                <a:cs typeface="Times New Roman" pitchFamily="18" charset="0"/>
                <a:sym typeface="Agrandir"/>
              </a:rPr>
              <a:t> H. L (4NI23CI064)</a:t>
            </a:r>
          </a:p>
          <a:p>
            <a:pPr marL="410720" lvl="1" indent="-205360">
              <a:lnSpc>
                <a:spcPts val="2663"/>
              </a:lnSpc>
              <a:spcBef>
                <a:spcPct val="0"/>
              </a:spcBef>
              <a:buFont typeface="Arial"/>
              <a:buChar char="•"/>
            </a:pPr>
            <a:r>
              <a:rPr lang="en-US" sz="1902" dirty="0" err="1" smtClean="0">
                <a:latin typeface="Times New Roman" pitchFamily="18" charset="0"/>
                <a:ea typeface="Agrandir"/>
                <a:cs typeface="Times New Roman" pitchFamily="18" charset="0"/>
                <a:sym typeface="Agrandir"/>
              </a:rPr>
              <a:t>Omkar</a:t>
            </a:r>
            <a:r>
              <a:rPr lang="en-US" sz="1902" dirty="0" smtClean="0">
                <a:latin typeface="Times New Roman" pitchFamily="18" charset="0"/>
                <a:ea typeface="Agrandir"/>
                <a:cs typeface="Times New Roman" pitchFamily="18" charset="0"/>
                <a:sym typeface="Agrandir"/>
              </a:rPr>
              <a:t> S. </a:t>
            </a:r>
            <a:r>
              <a:rPr lang="en-US" sz="1902" dirty="0" err="1" smtClean="0">
                <a:latin typeface="Times New Roman" pitchFamily="18" charset="0"/>
                <a:ea typeface="Agrandir"/>
                <a:cs typeface="Times New Roman" pitchFamily="18" charset="0"/>
                <a:sym typeface="Agrandir"/>
              </a:rPr>
              <a:t>Moodvi</a:t>
            </a:r>
            <a:r>
              <a:rPr lang="en-US" sz="1902" dirty="0" smtClean="0">
                <a:latin typeface="Times New Roman" pitchFamily="18" charset="0"/>
                <a:ea typeface="Agrandir"/>
                <a:cs typeface="Times New Roman" pitchFamily="18" charset="0"/>
                <a:sym typeface="Agrandir"/>
              </a:rPr>
              <a:t> (4NI23CI068)</a:t>
            </a:r>
          </a:p>
          <a:p>
            <a:pPr marL="410720" lvl="1" indent="-205360">
              <a:lnSpc>
                <a:spcPts val="2663"/>
              </a:lnSpc>
              <a:spcBef>
                <a:spcPct val="0"/>
              </a:spcBef>
              <a:buFont typeface="Arial"/>
              <a:buChar char="•"/>
            </a:pPr>
            <a:r>
              <a:rPr lang="en-US" sz="1902" dirty="0" err="1" smtClean="0">
                <a:latin typeface="Times New Roman" pitchFamily="18" charset="0"/>
                <a:ea typeface="Agrandir"/>
                <a:cs typeface="Times New Roman" pitchFamily="18" charset="0"/>
                <a:sym typeface="Agrandir"/>
              </a:rPr>
              <a:t>Sanmitha</a:t>
            </a:r>
            <a:r>
              <a:rPr lang="en-US" sz="1902" dirty="0" smtClean="0">
                <a:latin typeface="Times New Roman" pitchFamily="18" charset="0"/>
                <a:ea typeface="Agrandir"/>
                <a:cs typeface="Times New Roman" pitchFamily="18" charset="0"/>
                <a:sym typeface="Agrandir"/>
              </a:rPr>
              <a:t> H. (4NI23CI096)</a:t>
            </a:r>
            <a:endParaRPr lang="en-US" sz="1902" dirty="0">
              <a:latin typeface="Times New Roman" pitchFamily="18" charset="0"/>
              <a:ea typeface="Agrandir"/>
              <a:cs typeface="Times New Roman" pitchFamily="18" charset="0"/>
              <a:sym typeface="Agrandir"/>
            </a:endParaRPr>
          </a:p>
        </p:txBody>
      </p:sp>
      <p:sp>
        <p:nvSpPr>
          <p:cNvPr id="8" name="TextBox 7"/>
          <p:cNvSpPr txBox="1"/>
          <p:nvPr/>
        </p:nvSpPr>
        <p:spPr>
          <a:xfrm>
            <a:off x="381000" y="1143000"/>
            <a:ext cx="8991600" cy="369332"/>
          </a:xfrm>
          <a:prstGeom prst="rect">
            <a:avLst/>
          </a:prstGeom>
          <a:noFill/>
        </p:spPr>
        <p:txBody>
          <a:bodyPr wrap="square" rtlCol="0">
            <a:spAutoFit/>
          </a:bodyPr>
          <a:lstStyle/>
          <a:p>
            <a:pPr algn="ctr"/>
            <a:r>
              <a:rPr lang="en-US" dirty="0" smtClean="0"/>
              <a:t>(Department of Computer Science and Engineering)</a:t>
            </a:r>
            <a:endParaRPr lang="en-US" dirty="0"/>
          </a:p>
        </p:txBody>
      </p:sp>
      <p:sp>
        <p:nvSpPr>
          <p:cNvPr id="9" name="TextBox 8"/>
          <p:cNvSpPr txBox="1"/>
          <p:nvPr/>
        </p:nvSpPr>
        <p:spPr>
          <a:xfrm>
            <a:off x="1371600" y="1865293"/>
            <a:ext cx="7086600" cy="954107"/>
          </a:xfrm>
          <a:prstGeom prst="rect">
            <a:avLst/>
          </a:prstGeom>
          <a:noFill/>
        </p:spPr>
        <p:txBody>
          <a:bodyPr wrap="square" rtlCol="0">
            <a:spAutoFit/>
          </a:bodyPr>
          <a:lstStyle/>
          <a:p>
            <a:pPr algn="ctr"/>
            <a:r>
              <a:rPr lang="en-US" sz="2800" b="1" dirty="0" smtClean="0">
                <a:latin typeface="Times New Roman" pitchFamily="18" charset="0"/>
                <a:cs typeface="Times New Roman" pitchFamily="18" charset="0"/>
              </a:rPr>
              <a:t> Secure and Autonomous Enterprise Multi Agent System</a:t>
            </a:r>
            <a:endParaRPr lang="en-US" sz="2800" b="1" dirty="0">
              <a:latin typeface="Times New Roman" pitchFamily="18" charset="0"/>
              <a:cs typeface="Times New Roman" pitchFamily="18" charset="0"/>
            </a:endParaRPr>
          </a:p>
        </p:txBody>
      </p:sp>
      <p:sp>
        <p:nvSpPr>
          <p:cNvPr id="10" name="TextBox 9"/>
          <p:cNvSpPr txBox="1"/>
          <p:nvPr/>
        </p:nvSpPr>
        <p:spPr>
          <a:xfrm>
            <a:off x="0" y="4410670"/>
            <a:ext cx="4191000" cy="923330"/>
          </a:xfrm>
          <a:prstGeom prst="rect">
            <a:avLst/>
          </a:prstGeom>
          <a:noFill/>
        </p:spPr>
        <p:txBody>
          <a:bodyPr wrap="square" rtlCol="0">
            <a:spAutoFit/>
          </a:bodyPr>
          <a:lstStyle/>
          <a:p>
            <a:r>
              <a:rPr lang="en-US" dirty="0" smtClean="0">
                <a:latin typeface="Times New Roman" pitchFamily="18" charset="0"/>
                <a:cs typeface="Times New Roman" pitchFamily="18" charset="0"/>
              </a:rPr>
              <a:t>Under the Guidance of </a:t>
            </a:r>
          </a:p>
          <a:p>
            <a:r>
              <a:rPr lang="en-US" dirty="0" smtClean="0">
                <a:latin typeface="Times New Roman" pitchFamily="18" charset="0"/>
                <a:cs typeface="Times New Roman" pitchFamily="18" charset="0"/>
              </a:rPr>
              <a:t>Mr. </a:t>
            </a:r>
            <a:r>
              <a:rPr lang="en-US" dirty="0" err="1" smtClean="0">
                <a:latin typeface="Times New Roman" pitchFamily="18" charset="0"/>
                <a:cs typeface="Times New Roman" pitchFamily="18" charset="0"/>
              </a:rPr>
              <a:t>Gowtham</a:t>
            </a:r>
            <a:r>
              <a:rPr lang="en-US" dirty="0" smtClean="0">
                <a:latin typeface="Times New Roman" pitchFamily="18" charset="0"/>
                <a:cs typeface="Times New Roman" pitchFamily="18" charset="0"/>
              </a:rPr>
              <a:t> R </a:t>
            </a:r>
            <a:r>
              <a:rPr lang="en-US" dirty="0" err="1" smtClean="0">
                <a:latin typeface="Times New Roman" pitchFamily="18" charset="0"/>
                <a:cs typeface="Times New Roman" pitchFamily="18" charset="0"/>
              </a:rPr>
              <a:t>Naik</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Assistant Professor, Dept of CSE</a:t>
            </a:r>
            <a:endParaRPr lang="en-US"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52400"/>
            <a:ext cx="91440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Table of Contents</a:t>
            </a:r>
            <a:endParaRPr lang="en-US" sz="2400" b="1"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762000" y="1219200"/>
          <a:ext cx="5181600" cy="3505200"/>
        </p:xfrm>
        <a:graphic>
          <a:graphicData uri="http://schemas.openxmlformats.org/drawingml/2006/table">
            <a:tbl>
              <a:tblPr firstRow="1" bandRow="1">
                <a:tableStyleId>{5C22544A-7EE6-4342-B048-85BDC9FD1C3A}</a:tableStyleId>
              </a:tblPr>
              <a:tblGrid>
                <a:gridCol w="5181600"/>
              </a:tblGrid>
              <a:tr h="438150">
                <a:tc>
                  <a:txBody>
                    <a:bodyPr/>
                    <a:lstStyle/>
                    <a:p>
                      <a:r>
                        <a:rPr lang="en-US" b="0" dirty="0" smtClean="0">
                          <a:solidFill>
                            <a:schemeClr val="tx1"/>
                          </a:solidFill>
                          <a:latin typeface="Times New Roman" pitchFamily="18" charset="0"/>
                          <a:cs typeface="Times New Roman" pitchFamily="18" charset="0"/>
                        </a:rPr>
                        <a:t>Introduction                                                             </a:t>
                      </a:r>
                      <a:endParaRPr lang="en-US"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38150">
                <a:tc>
                  <a:txBody>
                    <a:bodyPr/>
                    <a:lstStyle/>
                    <a:p>
                      <a:r>
                        <a:rPr lang="en-US" dirty="0" smtClean="0">
                          <a:latin typeface="Times New Roman" pitchFamily="18" charset="0"/>
                          <a:cs typeface="Times New Roman" pitchFamily="18" charset="0"/>
                        </a:rPr>
                        <a:t>Abstract</a:t>
                      </a:r>
                      <a:endParaRPr lang="en-US"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38150">
                <a:tc>
                  <a:txBody>
                    <a:bodyPr/>
                    <a:lstStyle/>
                    <a:p>
                      <a:r>
                        <a:rPr lang="en-US" dirty="0" smtClean="0">
                          <a:latin typeface="Times New Roman" pitchFamily="18" charset="0"/>
                          <a:cs typeface="Times New Roman" pitchFamily="18" charset="0"/>
                        </a:rPr>
                        <a:t>Objectives</a:t>
                      </a:r>
                      <a:endParaRPr lang="en-US"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38150">
                <a:tc>
                  <a:txBody>
                    <a:bodyPr/>
                    <a:lstStyle/>
                    <a:p>
                      <a:r>
                        <a:rPr lang="en-US" dirty="0" smtClean="0">
                          <a:latin typeface="Times New Roman" pitchFamily="18" charset="0"/>
                          <a:cs typeface="Times New Roman" pitchFamily="18" charset="0"/>
                        </a:rPr>
                        <a:t>Literature Survey  </a:t>
                      </a:r>
                      <a:endParaRPr lang="en-US"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38150">
                <a:tc>
                  <a:txBody>
                    <a:bodyPr/>
                    <a:lstStyle/>
                    <a:p>
                      <a:r>
                        <a:rPr lang="en-US" dirty="0" smtClean="0">
                          <a:latin typeface="Times New Roman" pitchFamily="18" charset="0"/>
                          <a:cs typeface="Times New Roman" pitchFamily="18" charset="0"/>
                        </a:rPr>
                        <a:t>Implementation</a:t>
                      </a:r>
                      <a:endParaRPr lang="en-US"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38150">
                <a:tc>
                  <a:txBody>
                    <a:bodyPr/>
                    <a:lstStyle/>
                    <a:p>
                      <a:r>
                        <a:rPr lang="en-US" dirty="0" smtClean="0">
                          <a:latin typeface="Times New Roman" pitchFamily="18" charset="0"/>
                          <a:cs typeface="Times New Roman" pitchFamily="18" charset="0"/>
                        </a:rPr>
                        <a:t>Existing</a:t>
                      </a:r>
                      <a:r>
                        <a:rPr lang="en-US" baseline="0" dirty="0" smtClean="0">
                          <a:latin typeface="Times New Roman" pitchFamily="18" charset="0"/>
                          <a:cs typeface="Times New Roman" pitchFamily="18" charset="0"/>
                        </a:rPr>
                        <a:t> system and  Disadvantages</a:t>
                      </a:r>
                      <a:endParaRPr lang="en-US"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38150">
                <a:tc>
                  <a:txBody>
                    <a:bodyPr/>
                    <a:lstStyle/>
                    <a:p>
                      <a:r>
                        <a:rPr lang="en-US" dirty="0" smtClean="0">
                          <a:latin typeface="Times New Roman" pitchFamily="18" charset="0"/>
                          <a:cs typeface="Times New Roman" pitchFamily="18" charset="0"/>
                        </a:rPr>
                        <a:t>Proposed System and advantages</a:t>
                      </a:r>
                      <a:endParaRPr lang="en-US"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38150">
                <a:tc>
                  <a:txBody>
                    <a:bodyPr/>
                    <a:lstStyle/>
                    <a:p>
                      <a:r>
                        <a:rPr lang="en-US" dirty="0" smtClean="0">
                          <a:latin typeface="Times New Roman" pitchFamily="18" charset="0"/>
                          <a:cs typeface="Times New Roman" pitchFamily="18" charset="0"/>
                        </a:rPr>
                        <a:t>System</a:t>
                      </a:r>
                      <a:r>
                        <a:rPr lang="en-US" baseline="0" dirty="0" smtClean="0">
                          <a:latin typeface="Times New Roman" pitchFamily="18" charset="0"/>
                          <a:cs typeface="Times New Roman" pitchFamily="18" charset="0"/>
                        </a:rPr>
                        <a:t> requirements</a:t>
                      </a:r>
                      <a:endParaRPr lang="en-US"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457200"/>
            <a:ext cx="73152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INTRODUCTION</a:t>
            </a:r>
            <a:endParaRPr lang="en-US" sz="2400" b="1" dirty="0">
              <a:latin typeface="Times New Roman" pitchFamily="18" charset="0"/>
              <a:cs typeface="Times New Roman" pitchFamily="18" charset="0"/>
            </a:endParaRPr>
          </a:p>
        </p:txBody>
      </p:sp>
      <p:sp>
        <p:nvSpPr>
          <p:cNvPr id="4" name="TextBox 3"/>
          <p:cNvSpPr txBox="1"/>
          <p:nvPr/>
        </p:nvSpPr>
        <p:spPr>
          <a:xfrm>
            <a:off x="914400" y="990600"/>
            <a:ext cx="7620000" cy="5078313"/>
          </a:xfrm>
          <a:prstGeom prst="rect">
            <a:avLst/>
          </a:prstGeom>
          <a:noFill/>
        </p:spPr>
        <p:txBody>
          <a:bodyPr wrap="square" rtlCol="0">
            <a:spAutoFit/>
          </a:bodyPr>
          <a:lstStyle/>
          <a:p>
            <a:r>
              <a:rPr lang="en-US" dirty="0" smtClean="0">
                <a:latin typeface="Times New Roman" pitchFamily="18" charset="0"/>
                <a:cs typeface="Times New Roman" pitchFamily="18" charset="0"/>
              </a:rPr>
              <a:t>Modern enterprises depend on multiple software platforms such as Enterprise Resource Planning (ERP), Customer Relationship Management (CRM), Human Resource Management Systems (HRMS), cloud storage, and project management tools to manage their daily operations. These platforms help organizations store and process large amounts of data, automate routine activities, and improve communication across different departments. However, most enterprise applications operate independently, resulting in information silos and poor data integration. Employees often need to switch between multiple applications to complete a single task, which increases complexity and reduces productivity. Traditional AI assistants and </a:t>
            </a:r>
            <a:r>
              <a:rPr lang="en-US" dirty="0" err="1" smtClean="0">
                <a:latin typeface="Times New Roman" pitchFamily="18" charset="0"/>
                <a:cs typeface="Times New Roman" pitchFamily="18" charset="0"/>
              </a:rPr>
              <a:t>chatbots</a:t>
            </a:r>
            <a:r>
              <a:rPr lang="en-US" dirty="0" smtClean="0">
                <a:latin typeface="Times New Roman" pitchFamily="18" charset="0"/>
                <a:cs typeface="Times New Roman" pitchFamily="18" charset="0"/>
              </a:rPr>
              <a:t> provide only limited support because they mainly focus on answering queries rather than coordinating complete </a:t>
            </a:r>
            <a:r>
              <a:rPr lang="en-US" dirty="0" err="1" smtClean="0">
                <a:latin typeface="Times New Roman" pitchFamily="18" charset="0"/>
                <a:cs typeface="Times New Roman" pitchFamily="18" charset="0"/>
              </a:rPr>
              <a:t>workflowsTo</a:t>
            </a:r>
            <a:r>
              <a:rPr lang="en-US" dirty="0" smtClean="0">
                <a:latin typeface="Times New Roman" pitchFamily="18" charset="0"/>
                <a:cs typeface="Times New Roman" pitchFamily="18" charset="0"/>
              </a:rPr>
              <a:t> overcome these limitations, the proposed Secure and Autonomous Multi-Agent Enterprise Assistant integrates multiple specialized AI agents with Retrieval-Augmented Generation (RAG), Zero-Trust Security, Role-Based Access Control (RBAC), Explainable Artificial Intelligence (XAI), and Human-in-the-Loop validation. This integrated approach enables secure, accurate, transparent, and intelligent enterprise workflow automation while improving overall organizational efficiency. </a:t>
            </a:r>
            <a:endParaRPr lang="en-US"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457200"/>
            <a:ext cx="73152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ABSTRACT</a:t>
            </a:r>
            <a:endParaRPr lang="en-US" sz="2400" b="1" dirty="0">
              <a:latin typeface="Times New Roman" pitchFamily="18" charset="0"/>
              <a:cs typeface="Times New Roman" pitchFamily="18" charset="0"/>
            </a:endParaRPr>
          </a:p>
        </p:txBody>
      </p:sp>
      <p:sp>
        <p:nvSpPr>
          <p:cNvPr id="4" name="TextBox 3"/>
          <p:cNvSpPr txBox="1"/>
          <p:nvPr/>
        </p:nvSpPr>
        <p:spPr>
          <a:xfrm>
            <a:off x="914400" y="990600"/>
            <a:ext cx="7620000" cy="5078313"/>
          </a:xfrm>
          <a:prstGeom prst="rect">
            <a:avLst/>
          </a:prstGeom>
          <a:noFill/>
        </p:spPr>
        <p:txBody>
          <a:bodyPr wrap="square" rtlCol="0">
            <a:spAutoFit/>
          </a:bodyPr>
          <a:lstStyle/>
          <a:p>
            <a:r>
              <a:rPr lang="en-US" dirty="0" smtClean="0">
                <a:latin typeface="Times New Roman" pitchFamily="18" charset="0"/>
                <a:cs typeface="Times New Roman" pitchFamily="18" charset="0"/>
              </a:rPr>
              <a:t>The Secure and Autonomous Multi-Agent Enterprise Assistant is an AI-driven platform designed to automate enterprise workflows by integrating multiple specialized AI agents within a secure and intelligent environment. The system addresses common enterprise challenges such as information silos, repetitive tasks, inefficient collaboration, and the limited capabilities of traditional AI assistants. Unlike conventional single-agent systems, the proposed framework divides complex user requests into smaller subtasks and assigns them to dedicated agents responsible for information retrieval, analytics, workflow execution, and security verification. The system incorporates Retrieval-Augmented Generation (RAG) to retrieve information from enterprise knowledge sources and reduce AI hallucinations. Zero-Trust Security and Role-Based Access Control (RBAC) ensure that only authorized users can access sensitive enterprise resources. In addition, Explainable Artificial Intelligence (XAI) provides transparency by explaining how decisions are made, while Human-in-the-Loop validation allows experts to review and approve critical operations. By combining intelligent automation with advanced security mechanisms, the proposed system improves the accuracy, productivity, security, transparency, and scalability of enterprise workflow management.</a:t>
            </a:r>
            <a:endParaRPr lang="en-US"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457200"/>
            <a:ext cx="73152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OBJECTIVES</a:t>
            </a:r>
            <a:endParaRPr lang="en-US" sz="2400" b="1" dirty="0">
              <a:latin typeface="Times New Roman" pitchFamily="18" charset="0"/>
              <a:cs typeface="Times New Roman" pitchFamily="18" charset="0"/>
            </a:endParaRPr>
          </a:p>
        </p:txBody>
      </p:sp>
      <p:sp>
        <p:nvSpPr>
          <p:cNvPr id="4" name="TextBox 3"/>
          <p:cNvSpPr txBox="1"/>
          <p:nvPr/>
        </p:nvSpPr>
        <p:spPr>
          <a:xfrm>
            <a:off x="914400" y="990600"/>
            <a:ext cx="7620000" cy="4197559"/>
          </a:xfrm>
          <a:prstGeom prst="rect">
            <a:avLst/>
          </a:prstGeom>
          <a:noFill/>
        </p:spPr>
        <p:txBody>
          <a:bodyPr wrap="square" rtlCol="0">
            <a:spAutoFit/>
          </a:bodyPr>
          <a:lstStyle/>
          <a:p>
            <a:pPr algn="just">
              <a:lnSpc>
                <a:spcPct val="150000"/>
              </a:lnSpc>
              <a:buFont typeface="Arial" pitchFamily="34" charset="0"/>
              <a:buChar char="•"/>
            </a:pPr>
            <a:r>
              <a:rPr lang="en-US" dirty="0" smtClean="0">
                <a:latin typeface="Times New Roman" pitchFamily="18" charset="0"/>
                <a:cs typeface="Times New Roman" pitchFamily="18" charset="0"/>
              </a:rPr>
              <a:t>Design a </a:t>
            </a:r>
            <a:r>
              <a:rPr lang="en-US" b="1" dirty="0" smtClean="0">
                <a:latin typeface="Times New Roman" pitchFamily="18" charset="0"/>
                <a:cs typeface="Times New Roman" pitchFamily="18" charset="0"/>
              </a:rPr>
              <a:t>secure multi-agent architecture</a:t>
            </a:r>
            <a:r>
              <a:rPr lang="en-US" dirty="0" smtClean="0">
                <a:latin typeface="Times New Roman" pitchFamily="18" charset="0"/>
                <a:cs typeface="Times New Roman" pitchFamily="18" charset="0"/>
              </a:rPr>
              <a:t> for enterprise workflow automation.</a:t>
            </a:r>
          </a:p>
          <a:p>
            <a:pPr algn="just">
              <a:lnSpc>
                <a:spcPct val="150000"/>
              </a:lnSpc>
              <a:buFont typeface="Arial" pitchFamily="34" charset="0"/>
              <a:buChar char="•"/>
            </a:pPr>
            <a:r>
              <a:rPr lang="en-US" dirty="0" smtClean="0">
                <a:latin typeface="Times New Roman" pitchFamily="18" charset="0"/>
                <a:cs typeface="Times New Roman" pitchFamily="18" charset="0"/>
              </a:rPr>
              <a:t> Implement </a:t>
            </a:r>
            <a:r>
              <a:rPr lang="en-US" b="1" dirty="0" smtClean="0">
                <a:latin typeface="Times New Roman" pitchFamily="18" charset="0"/>
                <a:cs typeface="Times New Roman" pitchFamily="18" charset="0"/>
              </a:rPr>
              <a:t>intelligent task decomposition</a:t>
            </a:r>
            <a:r>
              <a:rPr lang="en-US" dirty="0" smtClean="0">
                <a:latin typeface="Times New Roman" pitchFamily="18" charset="0"/>
                <a:cs typeface="Times New Roman" pitchFamily="18" charset="0"/>
              </a:rPr>
              <a:t> using autonomous AI agents.</a:t>
            </a:r>
          </a:p>
          <a:p>
            <a:pPr algn="just">
              <a:lnSpc>
                <a:spcPct val="150000"/>
              </a:lnSpc>
              <a:buFont typeface="Arial" pitchFamily="34" charset="0"/>
              <a:buChar char="•"/>
            </a:pPr>
            <a:r>
              <a:rPr lang="en-US" dirty="0" smtClean="0">
                <a:latin typeface="Times New Roman" pitchFamily="18" charset="0"/>
                <a:cs typeface="Times New Roman" pitchFamily="18" charset="0"/>
              </a:rPr>
              <a:t> Integrate </a:t>
            </a:r>
            <a:r>
              <a:rPr lang="en-US" b="1" dirty="0" smtClean="0">
                <a:latin typeface="Times New Roman" pitchFamily="18" charset="0"/>
                <a:cs typeface="Times New Roman" pitchFamily="18" charset="0"/>
              </a:rPr>
              <a:t>Retrieval-Augmented Generation (RAG)</a:t>
            </a:r>
            <a:r>
              <a:rPr lang="en-US" dirty="0" smtClean="0">
                <a:latin typeface="Times New Roman" pitchFamily="18" charset="0"/>
                <a:cs typeface="Times New Roman" pitchFamily="18" charset="0"/>
              </a:rPr>
              <a:t> for accurate information       retrieval.</a:t>
            </a:r>
          </a:p>
          <a:p>
            <a:pPr algn="just">
              <a:lnSpc>
                <a:spcPct val="150000"/>
              </a:lnSpc>
              <a:buFont typeface="Arial" pitchFamily="34" charset="0"/>
              <a:buChar char="•"/>
            </a:pPr>
            <a:r>
              <a:rPr lang="en-US" dirty="0" smtClean="0">
                <a:latin typeface="Times New Roman" pitchFamily="18" charset="0"/>
                <a:cs typeface="Times New Roman" pitchFamily="18" charset="0"/>
              </a:rPr>
              <a:t> Enforce </a:t>
            </a:r>
            <a:r>
              <a:rPr lang="en-US" b="1" dirty="0" smtClean="0">
                <a:latin typeface="Times New Roman" pitchFamily="18" charset="0"/>
                <a:cs typeface="Times New Roman" pitchFamily="18" charset="0"/>
              </a:rPr>
              <a:t>Zero-Trust Security</a:t>
            </a:r>
            <a:r>
              <a:rPr lang="en-US" dirty="0" smtClean="0">
                <a:latin typeface="Times New Roman" pitchFamily="18" charset="0"/>
                <a:cs typeface="Times New Roman" pitchFamily="18" charset="0"/>
              </a:rPr>
              <a:t> and </a:t>
            </a:r>
            <a:r>
              <a:rPr lang="en-US" b="1" dirty="0" smtClean="0">
                <a:latin typeface="Times New Roman" pitchFamily="18" charset="0"/>
                <a:cs typeface="Times New Roman" pitchFamily="18" charset="0"/>
              </a:rPr>
              <a:t>Role-Based Access Control (RBAC)</a:t>
            </a:r>
            <a:r>
              <a:rPr lang="en-US" dirty="0" smtClean="0">
                <a:latin typeface="Times New Roman" pitchFamily="18" charset="0"/>
                <a:cs typeface="Times New Roman" pitchFamily="18" charset="0"/>
              </a:rPr>
              <a:t> for secure data access.</a:t>
            </a:r>
          </a:p>
          <a:p>
            <a:pPr algn="just">
              <a:lnSpc>
                <a:spcPct val="150000"/>
              </a:lnSpc>
              <a:buFont typeface="Arial" pitchFamily="34" charset="0"/>
              <a:buChar char="•"/>
            </a:pPr>
            <a:r>
              <a:rPr lang="en-US" dirty="0" smtClean="0">
                <a:latin typeface="Times New Roman" pitchFamily="18" charset="0"/>
                <a:cs typeface="Times New Roman" pitchFamily="18" charset="0"/>
              </a:rPr>
              <a:t> Reduce </a:t>
            </a:r>
            <a:r>
              <a:rPr lang="en-US" b="1" dirty="0" smtClean="0">
                <a:latin typeface="Times New Roman" pitchFamily="18" charset="0"/>
                <a:cs typeface="Times New Roman" pitchFamily="18" charset="0"/>
              </a:rPr>
              <a:t>AI hallucinations</a:t>
            </a:r>
            <a:r>
              <a:rPr lang="en-US" dirty="0" smtClean="0">
                <a:latin typeface="Times New Roman" pitchFamily="18" charset="0"/>
                <a:cs typeface="Times New Roman" pitchFamily="18" charset="0"/>
              </a:rPr>
              <a:t> using enterprise knowledge retrieval. </a:t>
            </a:r>
          </a:p>
          <a:p>
            <a:pPr algn="just">
              <a:lnSpc>
                <a:spcPct val="150000"/>
              </a:lnSpc>
              <a:buFont typeface="Arial" pitchFamily="34" charset="0"/>
              <a:buChar char="•"/>
            </a:pPr>
            <a:r>
              <a:rPr lang="en-US" dirty="0" smtClean="0">
                <a:latin typeface="Times New Roman" pitchFamily="18" charset="0"/>
                <a:cs typeface="Times New Roman" pitchFamily="18" charset="0"/>
              </a:rPr>
              <a:t>Provide </a:t>
            </a:r>
            <a:r>
              <a:rPr lang="en-US" b="1" dirty="0" smtClean="0">
                <a:latin typeface="Times New Roman" pitchFamily="18" charset="0"/>
                <a:cs typeface="Times New Roman" pitchFamily="18" charset="0"/>
              </a:rPr>
              <a:t>Explainable AI (XAI)</a:t>
            </a:r>
            <a:r>
              <a:rPr lang="en-US" dirty="0" smtClean="0">
                <a:latin typeface="Times New Roman" pitchFamily="18" charset="0"/>
                <a:cs typeface="Times New Roman" pitchFamily="18" charset="0"/>
              </a:rPr>
              <a:t> for transparent decision-making. Enable </a:t>
            </a:r>
            <a:r>
              <a:rPr lang="en-US" b="1" dirty="0" smtClean="0">
                <a:latin typeface="Times New Roman" pitchFamily="18" charset="0"/>
                <a:cs typeface="Times New Roman" pitchFamily="18" charset="0"/>
              </a:rPr>
              <a:t>Human-in-the-Loop validation</a:t>
            </a:r>
            <a:r>
              <a:rPr lang="en-US" dirty="0" smtClean="0">
                <a:latin typeface="Times New Roman" pitchFamily="18" charset="0"/>
                <a:cs typeface="Times New Roman" pitchFamily="18" charset="0"/>
              </a:rPr>
              <a:t> for critical enterprise tasks. </a:t>
            </a:r>
          </a:p>
          <a:p>
            <a:pPr algn="just">
              <a:lnSpc>
                <a:spcPct val="150000"/>
              </a:lnSpc>
              <a:buFont typeface="Arial" pitchFamily="34" charset="0"/>
              <a:buChar char="•"/>
            </a:pPr>
            <a:r>
              <a:rPr lang="en-US" dirty="0" smtClean="0">
                <a:latin typeface="Times New Roman" pitchFamily="18" charset="0"/>
                <a:cs typeface="Times New Roman" pitchFamily="18" charset="0"/>
              </a:rPr>
              <a:t>Evaluate system performance using </a:t>
            </a:r>
            <a:r>
              <a:rPr lang="en-US" b="1" dirty="0" smtClean="0">
                <a:latin typeface="Times New Roman" pitchFamily="18" charset="0"/>
                <a:cs typeface="Times New Roman" pitchFamily="18" charset="0"/>
              </a:rPr>
              <a:t>accuracy, security, and workflow metrics</a:t>
            </a:r>
            <a:endParaRPr lang="en-US"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152400"/>
            <a:ext cx="73152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LITERATURE SURVEY</a:t>
            </a:r>
            <a:endParaRPr lang="en-US" sz="2400" b="1" dirty="0">
              <a:latin typeface="Times New Roman" pitchFamily="18" charset="0"/>
              <a:cs typeface="Times New Roman" pitchFamily="18" charset="0"/>
            </a:endParaRPr>
          </a:p>
        </p:txBody>
      </p:sp>
      <p:graphicFrame>
        <p:nvGraphicFramePr>
          <p:cNvPr id="7" name="Table 6"/>
          <p:cNvGraphicFramePr>
            <a:graphicFrameLocks noGrp="1"/>
          </p:cNvGraphicFramePr>
          <p:nvPr/>
        </p:nvGraphicFramePr>
        <p:xfrm>
          <a:off x="381000" y="685800"/>
          <a:ext cx="8534400" cy="5782119"/>
        </p:xfrm>
        <a:graphic>
          <a:graphicData uri="http://schemas.openxmlformats.org/drawingml/2006/table">
            <a:tbl>
              <a:tblPr firstRow="1" bandRow="1">
                <a:tableStyleId>{5C22544A-7EE6-4342-B048-85BDC9FD1C3A}</a:tableStyleId>
              </a:tblPr>
              <a:tblGrid>
                <a:gridCol w="836706"/>
                <a:gridCol w="1924424"/>
                <a:gridCol w="2426447"/>
                <a:gridCol w="1594223"/>
                <a:gridCol w="1752600"/>
              </a:tblGrid>
              <a:tr h="790427">
                <a:tc>
                  <a:txBody>
                    <a:bodyPr/>
                    <a:lstStyle/>
                    <a:p>
                      <a:r>
                        <a:rPr lang="en-US" dirty="0" smtClean="0"/>
                        <a:t>SL NO</a:t>
                      </a:r>
                      <a:endParaRPr lang="en-US" dirty="0"/>
                    </a:p>
                  </a:txBody>
                  <a:tcPr/>
                </a:tc>
                <a:tc>
                  <a:txBody>
                    <a:bodyPr/>
                    <a:lstStyle/>
                    <a:p>
                      <a:r>
                        <a:rPr lang="en-US" dirty="0" smtClean="0"/>
                        <a:t>TITTLE AND YEAR OF PUBLICATION</a:t>
                      </a:r>
                      <a:endParaRPr lang="en-US" dirty="0"/>
                    </a:p>
                  </a:txBody>
                  <a:tcPr/>
                </a:tc>
                <a:tc>
                  <a:txBody>
                    <a:bodyPr/>
                    <a:lstStyle/>
                    <a:p>
                      <a:r>
                        <a:rPr lang="en-US" dirty="0" smtClean="0"/>
                        <a:t>SUMMARY</a:t>
                      </a:r>
                      <a:endParaRPr lang="en-US" dirty="0"/>
                    </a:p>
                  </a:txBody>
                  <a:tcPr/>
                </a:tc>
                <a:tc>
                  <a:txBody>
                    <a:bodyPr/>
                    <a:lstStyle/>
                    <a:p>
                      <a:r>
                        <a:rPr lang="en-US" dirty="0" smtClean="0"/>
                        <a:t>DRAWBACKS</a:t>
                      </a:r>
                    </a:p>
                    <a:p>
                      <a:r>
                        <a:rPr lang="en-US" dirty="0" smtClean="0"/>
                        <a:t>AND</a:t>
                      </a:r>
                      <a:r>
                        <a:rPr lang="en-US" baseline="0" dirty="0" smtClean="0"/>
                        <a:t> ACCURACY</a:t>
                      </a:r>
                      <a:endParaRPr lang="en-US" dirty="0"/>
                    </a:p>
                  </a:txBody>
                  <a:tcPr/>
                </a:tc>
                <a:tc>
                  <a:txBody>
                    <a:bodyPr/>
                    <a:lstStyle/>
                    <a:p>
                      <a:r>
                        <a:rPr lang="en-US" dirty="0" smtClean="0"/>
                        <a:t>HOW IT IS RELATED TO OUR PROJECT</a:t>
                      </a:r>
                      <a:endParaRPr lang="en-US" dirty="0"/>
                    </a:p>
                  </a:txBody>
                  <a:tcPr/>
                </a:tc>
              </a:tr>
              <a:tr h="1622573">
                <a:tc>
                  <a:txBody>
                    <a:bodyPr/>
                    <a:lstStyle/>
                    <a:p>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Large Language Models as Agents in Dynamic Multi-Agent Planning: Challenges, Directions, and Future Prospects (2026)</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Explores the use of LLMs as intelligent agents for planning, decision-making, and interaction in dynamic environments</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computational cost and coordination challenges. </a:t>
                      </a:r>
                      <a:r>
                        <a:rPr lang="en-US" sz="1400" b="1" dirty="0" smtClean="0">
                          <a:latin typeface="Times New Roman" pitchFamily="18" charset="0"/>
                          <a:cs typeface="Times New Roman" pitchFamily="18" charset="0"/>
                        </a:rPr>
                        <a:t>Accuracy:</a:t>
                      </a:r>
                      <a:r>
                        <a:rPr lang="en-US" sz="1400" dirty="0" smtClean="0">
                          <a:latin typeface="Times New Roman" pitchFamily="18" charset="0"/>
                          <a:cs typeface="Times New Roman" pitchFamily="18" charset="0"/>
                        </a:rPr>
                        <a:t> Not reported.</a:t>
                      </a:r>
                      <a:endParaRPr lang="en-US" sz="1400" dirty="0">
                        <a:latin typeface="Times New Roman" pitchFamily="18" charset="0"/>
                        <a:cs typeface="Times New Roman" pitchFamily="18" charset="0"/>
                      </a:endParaRPr>
                    </a:p>
                  </a:txBody>
                  <a:tcPr/>
                </a:tc>
                <a:tc>
                  <a:txBody>
                    <a:bodyPr/>
                    <a:lstStyle/>
                    <a:p>
                      <a:r>
                        <a:rPr lang="en-US" sz="1400" dirty="0" err="1" smtClean="0">
                          <a:latin typeface="Times New Roman" pitchFamily="18" charset="0"/>
                          <a:cs typeface="Times New Roman" pitchFamily="18" charset="0"/>
                        </a:rPr>
                        <a:t>ovides</a:t>
                      </a:r>
                      <a:r>
                        <a:rPr lang="en-US" sz="1400" dirty="0" smtClean="0">
                          <a:latin typeface="Times New Roman" pitchFamily="18" charset="0"/>
                          <a:cs typeface="Times New Roman" pitchFamily="18" charset="0"/>
                        </a:rPr>
                        <a:t> the foundation for integrating LLM-based intelligent agents into our enterprise assistant.</a:t>
                      </a:r>
                      <a:endParaRPr lang="en-US" sz="1400" dirty="0">
                        <a:latin typeface="Times New Roman" pitchFamily="18" charset="0"/>
                        <a:cs typeface="Times New Roman" pitchFamily="18" charset="0"/>
                      </a:endParaRPr>
                    </a:p>
                  </a:txBody>
                  <a:tcPr/>
                </a:tc>
              </a:tr>
              <a:tr h="1622573">
                <a:tc>
                  <a:txBody>
                    <a:bodyPr/>
                    <a:lstStyle/>
                    <a:p>
                      <a:r>
                        <a:rPr lang="en-US" sz="1400" dirty="0" smtClean="0">
                          <a:latin typeface="Times New Roman" pitchFamily="18" charset="0"/>
                          <a:cs typeface="Times New Roman" pitchFamily="18" charset="0"/>
                        </a:rPr>
                        <a:t>2</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Multi-Agent AI (2026)</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Explains the principles of multi-agent systems, including agent interaction, communication, and collaboration.</a:t>
                      </a:r>
                      <a:endParaRPr lang="en-US" sz="1400" dirty="0">
                        <a:latin typeface="Times New Roman" pitchFamily="18" charset="0"/>
                        <a:cs typeface="Times New Roman" pitchFamily="18" charset="0"/>
                      </a:endParaRPr>
                    </a:p>
                  </a:txBody>
                  <a:tcPr/>
                </a:tc>
                <a:tc>
                  <a:txBody>
                    <a:bodyPr/>
                    <a:lstStyle/>
                    <a:p>
                      <a:r>
                        <a:rPr lang="en-US" sz="1400" b="1" dirty="0" smtClean="0">
                          <a:latin typeface="Times New Roman" pitchFamily="18" charset="0"/>
                          <a:cs typeface="Times New Roman" pitchFamily="18" charset="0"/>
                        </a:rPr>
                        <a:t>Drawbacks:</a:t>
                      </a:r>
                      <a:r>
                        <a:rPr lang="en-US" sz="1400" dirty="0" smtClean="0">
                          <a:latin typeface="Times New Roman" pitchFamily="18" charset="0"/>
                          <a:cs typeface="Times New Roman" pitchFamily="18" charset="0"/>
                        </a:rPr>
                        <a:t> Scalability issues and complex implementation. </a:t>
                      </a:r>
                      <a:r>
                        <a:rPr lang="en-US" sz="1400" b="1" dirty="0" smtClean="0">
                          <a:latin typeface="Times New Roman" pitchFamily="18" charset="0"/>
                          <a:cs typeface="Times New Roman" pitchFamily="18" charset="0"/>
                        </a:rPr>
                        <a:t>Accuracy:</a:t>
                      </a:r>
                      <a:r>
                        <a:rPr lang="en-US" sz="1400" dirty="0" smtClean="0">
                          <a:latin typeface="Times New Roman" pitchFamily="18" charset="0"/>
                          <a:cs typeface="Times New Roman" pitchFamily="18" charset="0"/>
                        </a:rPr>
                        <a:t> Not reported.</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Provides the basic architecture required for developing our multi-agent enterprise assistant.</a:t>
                      </a:r>
                      <a:endParaRPr lang="en-US" sz="1400" dirty="0">
                        <a:latin typeface="Times New Roman" pitchFamily="18" charset="0"/>
                        <a:cs typeface="Times New Roman" pitchFamily="18" charset="0"/>
                      </a:endParaRPr>
                    </a:p>
                  </a:txBody>
                  <a:tcPr/>
                </a:tc>
              </a:tr>
              <a:tr h="1622573">
                <a:tc>
                  <a:txBody>
                    <a:bodyPr/>
                    <a:lstStyle/>
                    <a:p>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Agents AI (2026)</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Discusses different types of AI agents and their ability to solve tasks through cooperation.</a:t>
                      </a:r>
                      <a:endParaRPr lang="en-US" sz="1400" dirty="0">
                        <a:latin typeface="Times New Roman" pitchFamily="18" charset="0"/>
                        <a:cs typeface="Times New Roman" pitchFamily="18" charset="0"/>
                      </a:endParaRPr>
                    </a:p>
                  </a:txBody>
                  <a:tcPr/>
                </a:tc>
                <a:tc>
                  <a:txBody>
                    <a:bodyPr/>
                    <a:lstStyle/>
                    <a:p>
                      <a:r>
                        <a:rPr lang="en-US" sz="1400" b="1" dirty="0" smtClean="0">
                          <a:latin typeface="Times New Roman" pitchFamily="18" charset="0"/>
                          <a:cs typeface="Times New Roman" pitchFamily="18" charset="0"/>
                        </a:rPr>
                        <a:t>Drawbacks:</a:t>
                      </a:r>
                      <a:r>
                        <a:rPr lang="en-US" sz="1400" dirty="0" smtClean="0">
                          <a:latin typeface="Times New Roman" pitchFamily="18" charset="0"/>
                          <a:cs typeface="Times New Roman" pitchFamily="18" charset="0"/>
                        </a:rPr>
                        <a:t> Reliability and integration challenges. </a:t>
                      </a:r>
                      <a:r>
                        <a:rPr lang="en-US" sz="1400" b="1" dirty="0" smtClean="0">
                          <a:latin typeface="Times New Roman" pitchFamily="18" charset="0"/>
                          <a:cs typeface="Times New Roman" pitchFamily="18" charset="0"/>
                        </a:rPr>
                        <a:t>Accuracy:</a:t>
                      </a:r>
                      <a:r>
                        <a:rPr lang="en-US" sz="1400" dirty="0" smtClean="0">
                          <a:latin typeface="Times New Roman" pitchFamily="18" charset="0"/>
                          <a:cs typeface="Times New Roman" pitchFamily="18" charset="0"/>
                        </a:rPr>
                        <a:t> Not reported.</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Supports our idea of using multiple specialized agents to perform different enterprise tasks.</a:t>
                      </a:r>
                      <a:endParaRPr lang="en-US" sz="1400" dirty="0">
                        <a:latin typeface="Times New Roman" pitchFamily="18" charset="0"/>
                        <a:cs typeface="Times New Roman" pitchFamily="18" charset="0"/>
                      </a:endParaRPr>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152400"/>
            <a:ext cx="73152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LITERATURE SURVEY</a:t>
            </a:r>
            <a:endParaRPr lang="en-US" sz="2400" b="1" dirty="0">
              <a:latin typeface="Times New Roman" pitchFamily="18" charset="0"/>
              <a:cs typeface="Times New Roman" pitchFamily="18" charset="0"/>
            </a:endParaRPr>
          </a:p>
        </p:txBody>
      </p:sp>
      <p:graphicFrame>
        <p:nvGraphicFramePr>
          <p:cNvPr id="7" name="Table 6"/>
          <p:cNvGraphicFramePr>
            <a:graphicFrameLocks noGrp="1"/>
          </p:cNvGraphicFramePr>
          <p:nvPr/>
        </p:nvGraphicFramePr>
        <p:xfrm>
          <a:off x="381000" y="685800"/>
          <a:ext cx="8534400" cy="5957866"/>
        </p:xfrm>
        <a:graphic>
          <a:graphicData uri="http://schemas.openxmlformats.org/drawingml/2006/table">
            <a:tbl>
              <a:tblPr firstRow="1" bandRow="1">
                <a:tableStyleId>{5C22544A-7EE6-4342-B048-85BDC9FD1C3A}</a:tableStyleId>
              </a:tblPr>
              <a:tblGrid>
                <a:gridCol w="836706"/>
                <a:gridCol w="1924424"/>
                <a:gridCol w="2426447"/>
                <a:gridCol w="1594223"/>
                <a:gridCol w="1752600"/>
              </a:tblGrid>
              <a:tr h="790427">
                <a:tc>
                  <a:txBody>
                    <a:bodyPr/>
                    <a:lstStyle/>
                    <a:p>
                      <a:r>
                        <a:rPr lang="en-US" dirty="0" smtClean="0"/>
                        <a:t>SL NO</a:t>
                      </a:r>
                      <a:endParaRPr lang="en-US" dirty="0"/>
                    </a:p>
                  </a:txBody>
                  <a:tcPr/>
                </a:tc>
                <a:tc>
                  <a:txBody>
                    <a:bodyPr/>
                    <a:lstStyle/>
                    <a:p>
                      <a:r>
                        <a:rPr lang="en-US" dirty="0" smtClean="0"/>
                        <a:t>TITTLE AND YEAR OF PUBLICATION</a:t>
                      </a:r>
                      <a:endParaRPr lang="en-US" dirty="0"/>
                    </a:p>
                  </a:txBody>
                  <a:tcPr/>
                </a:tc>
                <a:tc>
                  <a:txBody>
                    <a:bodyPr/>
                    <a:lstStyle/>
                    <a:p>
                      <a:r>
                        <a:rPr lang="en-US" dirty="0" smtClean="0"/>
                        <a:t>SUMMARY</a:t>
                      </a:r>
                      <a:endParaRPr lang="en-US" dirty="0"/>
                    </a:p>
                  </a:txBody>
                  <a:tcPr/>
                </a:tc>
                <a:tc>
                  <a:txBody>
                    <a:bodyPr/>
                    <a:lstStyle/>
                    <a:p>
                      <a:r>
                        <a:rPr lang="en-US" dirty="0" smtClean="0"/>
                        <a:t>DRAWBACKS</a:t>
                      </a:r>
                    </a:p>
                    <a:p>
                      <a:r>
                        <a:rPr lang="en-US" dirty="0" smtClean="0"/>
                        <a:t>AND</a:t>
                      </a:r>
                      <a:r>
                        <a:rPr lang="en-US" baseline="0" dirty="0" smtClean="0"/>
                        <a:t> ACCURACY</a:t>
                      </a:r>
                      <a:endParaRPr lang="en-US" dirty="0"/>
                    </a:p>
                  </a:txBody>
                  <a:tcPr/>
                </a:tc>
                <a:tc>
                  <a:txBody>
                    <a:bodyPr/>
                    <a:lstStyle/>
                    <a:p>
                      <a:r>
                        <a:rPr lang="en-US" dirty="0" smtClean="0"/>
                        <a:t>HOW IT IS RELATED TO OUR PROJECT</a:t>
                      </a:r>
                      <a:endParaRPr lang="en-US" dirty="0"/>
                    </a:p>
                  </a:txBody>
                  <a:tcPr/>
                </a:tc>
              </a:tr>
              <a:tr h="1622573">
                <a:tc>
                  <a:txBody>
                    <a:bodyPr/>
                    <a:lstStyle/>
                    <a:p>
                      <a:r>
                        <a:rPr lang="en-US" sz="1400" dirty="0" smtClean="0">
                          <a:latin typeface="Times New Roman" pitchFamily="18" charset="0"/>
                          <a:cs typeface="Times New Roman" pitchFamily="18" charset="0"/>
                        </a:rPr>
                        <a:t>4</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A </a:t>
                      </a:r>
                      <a:r>
                        <a:rPr lang="en-US" sz="1400" dirty="0" err="1" smtClean="0">
                          <a:latin typeface="Times New Roman" pitchFamily="18" charset="0"/>
                          <a:cs typeface="Times New Roman" pitchFamily="18" charset="0"/>
                        </a:rPr>
                        <a:t>Neuro</a:t>
                      </a:r>
                      <a:r>
                        <a:rPr lang="en-US" sz="1400" dirty="0" smtClean="0">
                          <a:latin typeface="Times New Roman" pitchFamily="18" charset="0"/>
                          <a:cs typeface="Times New Roman" pitchFamily="18" charset="0"/>
                        </a:rPr>
                        <a:t>-Symbolic Multi-Agent System for Explainable and Trustworthy Decision-Making in Organizational Contexts (2026)</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Combines symbolic reasoning and AI to improve </a:t>
                      </a:r>
                      <a:r>
                        <a:rPr lang="en-US" sz="1400" dirty="0" err="1" smtClean="0">
                          <a:latin typeface="Times New Roman" pitchFamily="18" charset="0"/>
                          <a:cs typeface="Times New Roman" pitchFamily="18" charset="0"/>
                        </a:rPr>
                        <a:t>explainability</a:t>
                      </a:r>
                      <a:r>
                        <a:rPr lang="en-US" sz="1400" dirty="0" smtClean="0">
                          <a:latin typeface="Times New Roman" pitchFamily="18" charset="0"/>
                          <a:cs typeface="Times New Roman" pitchFamily="18" charset="0"/>
                        </a:rPr>
                        <a:t> and decision-making in organizations.</a:t>
                      </a:r>
                      <a:endParaRPr lang="en-US" sz="1400" dirty="0">
                        <a:latin typeface="Times New Roman" pitchFamily="18" charset="0"/>
                        <a:cs typeface="Times New Roman" pitchFamily="18" charset="0"/>
                      </a:endParaRPr>
                    </a:p>
                  </a:txBody>
                  <a:tcPr/>
                </a:tc>
                <a:tc>
                  <a:txBody>
                    <a:bodyPr/>
                    <a:lstStyle/>
                    <a:p>
                      <a:r>
                        <a:rPr lang="en-US" sz="1400" b="1" dirty="0" smtClean="0">
                          <a:latin typeface="Times New Roman" pitchFamily="18" charset="0"/>
                          <a:cs typeface="Times New Roman" pitchFamily="18" charset="0"/>
                        </a:rPr>
                        <a:t>Drawbacks:</a:t>
                      </a:r>
                      <a:r>
                        <a:rPr lang="en-US" sz="1400" dirty="0" smtClean="0">
                          <a:latin typeface="Times New Roman" pitchFamily="18" charset="0"/>
                          <a:cs typeface="Times New Roman" pitchFamily="18" charset="0"/>
                        </a:rPr>
                        <a:t> High computational overhead. </a:t>
                      </a:r>
                      <a:r>
                        <a:rPr lang="en-US" sz="1400" b="1" dirty="0" smtClean="0">
                          <a:latin typeface="Times New Roman" pitchFamily="18" charset="0"/>
                          <a:cs typeface="Times New Roman" pitchFamily="18" charset="0"/>
                        </a:rPr>
                        <a:t>Accuracy:</a:t>
                      </a:r>
                      <a:r>
                        <a:rPr lang="en-US" sz="1400" dirty="0" smtClean="0">
                          <a:latin typeface="Times New Roman" pitchFamily="18" charset="0"/>
                          <a:cs typeface="Times New Roman" pitchFamily="18" charset="0"/>
                        </a:rPr>
                        <a:t> 63.5%–83.3% across different domains.</a:t>
                      </a:r>
                      <a:endParaRPr lang="en-US" sz="1400" dirty="0">
                        <a:latin typeface="Times New Roman" pitchFamily="18" charset="0"/>
                        <a:cs typeface="Times New Roman" pitchFamily="18" charset="0"/>
                      </a:endParaRPr>
                    </a:p>
                  </a:txBody>
                  <a:tcPr/>
                </a:tc>
                <a:tc>
                  <a:txBody>
                    <a:bodyPr/>
                    <a:lstStyle/>
                    <a:p>
                      <a:r>
                        <a:rPr lang="en-US" sz="1400" dirty="0">
                          <a:latin typeface="Times New Roman" pitchFamily="18" charset="0"/>
                          <a:cs typeface="Times New Roman" pitchFamily="18" charset="0"/>
                        </a:rPr>
                        <a:t>overhead. </a:t>
                      </a:r>
                      <a:r>
                        <a:rPr lang="en-US" sz="1400" b="1" dirty="0">
                          <a:latin typeface="Times New Roman" pitchFamily="18" charset="0"/>
                          <a:cs typeface="Times New Roman" pitchFamily="18" charset="0"/>
                        </a:rPr>
                        <a:t>Accuracy:</a:t>
                      </a:r>
                      <a:r>
                        <a:rPr lang="en-US" sz="1400" dirty="0">
                          <a:latin typeface="Times New Roman" pitchFamily="18" charset="0"/>
                          <a:cs typeface="Times New Roman" pitchFamily="18" charset="0"/>
                        </a:rPr>
                        <a:t> 63.5%–83.3% across different domains.</a:t>
                      </a:r>
                    </a:p>
                  </a:txBody>
                  <a:tcPr anchor="ctr"/>
                </a:tc>
              </a:tr>
              <a:tr h="1622573">
                <a:tc>
                  <a:txBody>
                    <a:bodyPr/>
                    <a:lstStyle/>
                    <a:p>
                      <a:r>
                        <a:rPr lang="en-US" sz="1400" dirty="0" smtClean="0">
                          <a:latin typeface="Times New Roman" pitchFamily="18" charset="0"/>
                          <a:cs typeface="Times New Roman" pitchFamily="18" charset="0"/>
                        </a:rPr>
                        <a:t>5</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LLM-Based Intelligent Agents for </a:t>
                      </a:r>
                      <a:r>
                        <a:rPr lang="en-US" sz="1400" dirty="0" err="1" smtClean="0">
                          <a:latin typeface="Times New Roman" pitchFamily="18" charset="0"/>
                          <a:cs typeface="Times New Roman" pitchFamily="18" charset="0"/>
                        </a:rPr>
                        <a:t>Cybersecurity</a:t>
                      </a:r>
                      <a:r>
                        <a:rPr lang="en-US" sz="1400" dirty="0" smtClean="0">
                          <a:latin typeface="Times New Roman" pitchFamily="18" charset="0"/>
                          <a:cs typeface="Times New Roman" pitchFamily="18" charset="0"/>
                        </a:rPr>
                        <a:t>: A Tutorial and Survey of Automated Vulnerability Discovery (2026)</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Reviews how LLM-based agents can automate </a:t>
                      </a:r>
                      <a:r>
                        <a:rPr lang="en-US" sz="1400" dirty="0" err="1" smtClean="0">
                          <a:latin typeface="Times New Roman" pitchFamily="18" charset="0"/>
                          <a:cs typeface="Times New Roman" pitchFamily="18" charset="0"/>
                        </a:rPr>
                        <a:t>cybersecurity</a:t>
                      </a:r>
                      <a:r>
                        <a:rPr lang="en-US" sz="1400" dirty="0" smtClean="0">
                          <a:latin typeface="Times New Roman" pitchFamily="18" charset="0"/>
                          <a:cs typeface="Times New Roman" pitchFamily="18" charset="0"/>
                        </a:rPr>
                        <a:t> tasks and vulnerability detection.</a:t>
                      </a:r>
                      <a:endParaRPr lang="en-US" sz="1400" dirty="0">
                        <a:latin typeface="Times New Roman" pitchFamily="18" charset="0"/>
                        <a:cs typeface="Times New Roman" pitchFamily="18" charset="0"/>
                      </a:endParaRPr>
                    </a:p>
                  </a:txBody>
                  <a:tcPr/>
                </a:tc>
                <a:tc>
                  <a:txBody>
                    <a:bodyPr/>
                    <a:lstStyle/>
                    <a:p>
                      <a:r>
                        <a:rPr lang="en-US" sz="1400" b="1" dirty="0" smtClean="0">
                          <a:latin typeface="Times New Roman" pitchFamily="18" charset="0"/>
                          <a:cs typeface="Times New Roman" pitchFamily="18" charset="0"/>
                        </a:rPr>
                        <a:t>Drawbacks:</a:t>
                      </a:r>
                      <a:r>
                        <a:rPr lang="en-US" sz="1400" dirty="0" smtClean="0">
                          <a:latin typeface="Times New Roman" pitchFamily="18" charset="0"/>
                          <a:cs typeface="Times New Roman" pitchFamily="18" charset="0"/>
                        </a:rPr>
                        <a:t> Hallucination and security risks. </a:t>
                      </a:r>
                      <a:r>
                        <a:rPr lang="en-US" sz="1400" b="1" dirty="0" smtClean="0">
                          <a:latin typeface="Times New Roman" pitchFamily="18" charset="0"/>
                          <a:cs typeface="Times New Roman" pitchFamily="18" charset="0"/>
                        </a:rPr>
                        <a:t>Accuracy:</a:t>
                      </a:r>
                      <a:r>
                        <a:rPr lang="en-US" sz="1400" dirty="0" smtClean="0">
                          <a:latin typeface="Times New Roman" pitchFamily="18" charset="0"/>
                          <a:cs typeface="Times New Roman" pitchFamily="18" charset="0"/>
                        </a:rPr>
                        <a:t> Not reported.</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Provides techniques that strengthen the security component of our enterprise assistant.</a:t>
                      </a:r>
                      <a:endParaRPr lang="en-US" sz="1400" dirty="0">
                        <a:latin typeface="Times New Roman" pitchFamily="18" charset="0"/>
                        <a:cs typeface="Times New Roman" pitchFamily="18" charset="0"/>
                      </a:endParaRPr>
                    </a:p>
                  </a:txBody>
                  <a:tcPr/>
                </a:tc>
              </a:tr>
              <a:tr h="1622573">
                <a:tc>
                  <a:txBody>
                    <a:bodyPr/>
                    <a:lstStyle/>
                    <a:p>
                      <a:r>
                        <a:rPr lang="en-US" sz="1400" dirty="0" smtClean="0">
                          <a:latin typeface="Times New Roman" pitchFamily="18" charset="0"/>
                          <a:cs typeface="Times New Roman" pitchFamily="18" charset="0"/>
                        </a:rPr>
                        <a:t>6</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Secure Agents AI and Multimodal Intelligence in 6G Communication Systems (2026)</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Presents secure AI agents capable of processing multiple data types in next-generation communication systems</a:t>
                      </a:r>
                      <a:endParaRPr lang="en-US" sz="1400" dirty="0">
                        <a:latin typeface="Times New Roman" pitchFamily="18" charset="0"/>
                        <a:cs typeface="Times New Roman" pitchFamily="18" charset="0"/>
                      </a:endParaRPr>
                    </a:p>
                  </a:txBody>
                  <a:tcPr/>
                </a:tc>
                <a:tc>
                  <a:txBody>
                    <a:bodyPr/>
                    <a:lstStyle/>
                    <a:p>
                      <a:r>
                        <a:rPr lang="en-US" sz="1400" b="1" dirty="0" smtClean="0">
                          <a:latin typeface="Times New Roman" pitchFamily="18" charset="0"/>
                          <a:cs typeface="Times New Roman" pitchFamily="18" charset="0"/>
                        </a:rPr>
                        <a:t>Drawbacks:</a:t>
                      </a:r>
                      <a:r>
                        <a:rPr lang="en-US" sz="1400" dirty="0" smtClean="0">
                          <a:latin typeface="Times New Roman" pitchFamily="18" charset="0"/>
                          <a:cs typeface="Times New Roman" pitchFamily="18" charset="0"/>
                        </a:rPr>
                        <a:t> Complex implementation and limited practical deployment. </a:t>
                      </a:r>
                      <a:r>
                        <a:rPr lang="en-US" sz="1400" b="1" dirty="0" smtClean="0">
                          <a:latin typeface="Times New Roman" pitchFamily="18" charset="0"/>
                          <a:cs typeface="Times New Roman" pitchFamily="18" charset="0"/>
                        </a:rPr>
                        <a:t>Accuracy:</a:t>
                      </a:r>
                      <a:r>
                        <a:rPr lang="en-US" sz="1400" dirty="0" smtClean="0">
                          <a:latin typeface="Times New Roman" pitchFamily="18" charset="0"/>
                          <a:cs typeface="Times New Roman" pitchFamily="18" charset="0"/>
                        </a:rPr>
                        <a:t> Not reported.</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Contributes concepts related to secure communication and autonomous decision-making.</a:t>
                      </a:r>
                      <a:endParaRPr lang="en-US" sz="1400" dirty="0">
                        <a:latin typeface="Times New Roman" pitchFamily="18" charset="0"/>
                        <a:cs typeface="Times New Roman" pitchFamily="18" charset="0"/>
                      </a:endParaRPr>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152400"/>
            <a:ext cx="73152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LITERATURE SURVEY</a:t>
            </a:r>
            <a:endParaRPr lang="en-US" sz="2400" b="1" dirty="0">
              <a:latin typeface="Times New Roman" pitchFamily="18" charset="0"/>
              <a:cs typeface="Times New Roman" pitchFamily="18" charset="0"/>
            </a:endParaRPr>
          </a:p>
        </p:txBody>
      </p:sp>
      <p:graphicFrame>
        <p:nvGraphicFramePr>
          <p:cNvPr id="7" name="Table 6"/>
          <p:cNvGraphicFramePr>
            <a:graphicFrameLocks noGrp="1"/>
          </p:cNvGraphicFramePr>
          <p:nvPr/>
        </p:nvGraphicFramePr>
        <p:xfrm>
          <a:off x="381000" y="685800"/>
          <a:ext cx="8534400" cy="5835946"/>
        </p:xfrm>
        <a:graphic>
          <a:graphicData uri="http://schemas.openxmlformats.org/drawingml/2006/table">
            <a:tbl>
              <a:tblPr firstRow="1" bandRow="1">
                <a:tableStyleId>{5C22544A-7EE6-4342-B048-85BDC9FD1C3A}</a:tableStyleId>
              </a:tblPr>
              <a:tblGrid>
                <a:gridCol w="836706"/>
                <a:gridCol w="1924424"/>
                <a:gridCol w="2426447"/>
                <a:gridCol w="1594223"/>
                <a:gridCol w="1752600"/>
              </a:tblGrid>
              <a:tr h="790427">
                <a:tc>
                  <a:txBody>
                    <a:bodyPr/>
                    <a:lstStyle/>
                    <a:p>
                      <a:r>
                        <a:rPr lang="en-US" dirty="0" smtClean="0"/>
                        <a:t>SL NO</a:t>
                      </a:r>
                      <a:endParaRPr lang="en-US" dirty="0"/>
                    </a:p>
                  </a:txBody>
                  <a:tcPr/>
                </a:tc>
                <a:tc>
                  <a:txBody>
                    <a:bodyPr/>
                    <a:lstStyle/>
                    <a:p>
                      <a:r>
                        <a:rPr lang="en-US" dirty="0" smtClean="0"/>
                        <a:t>TITTLE AND YEAR OF PUBLICATION</a:t>
                      </a:r>
                      <a:endParaRPr lang="en-US" dirty="0"/>
                    </a:p>
                  </a:txBody>
                  <a:tcPr/>
                </a:tc>
                <a:tc>
                  <a:txBody>
                    <a:bodyPr/>
                    <a:lstStyle/>
                    <a:p>
                      <a:r>
                        <a:rPr lang="en-US" dirty="0" smtClean="0"/>
                        <a:t>SUMMARY</a:t>
                      </a:r>
                      <a:endParaRPr lang="en-US" dirty="0"/>
                    </a:p>
                  </a:txBody>
                  <a:tcPr/>
                </a:tc>
                <a:tc>
                  <a:txBody>
                    <a:bodyPr/>
                    <a:lstStyle/>
                    <a:p>
                      <a:r>
                        <a:rPr lang="en-US" dirty="0" smtClean="0"/>
                        <a:t>DRAWBACKS</a:t>
                      </a:r>
                    </a:p>
                    <a:p>
                      <a:r>
                        <a:rPr lang="en-US" dirty="0" smtClean="0"/>
                        <a:t>AND</a:t>
                      </a:r>
                      <a:r>
                        <a:rPr lang="en-US" baseline="0" dirty="0" smtClean="0"/>
                        <a:t> ACCURACY</a:t>
                      </a:r>
                      <a:endParaRPr lang="en-US" dirty="0"/>
                    </a:p>
                  </a:txBody>
                  <a:tcPr/>
                </a:tc>
                <a:tc>
                  <a:txBody>
                    <a:bodyPr/>
                    <a:lstStyle/>
                    <a:p>
                      <a:r>
                        <a:rPr lang="en-US" dirty="0" smtClean="0"/>
                        <a:t>HOW IT IS RELATED TO OUR PROJECT</a:t>
                      </a:r>
                      <a:endParaRPr lang="en-US" dirty="0"/>
                    </a:p>
                  </a:txBody>
                  <a:tcPr/>
                </a:tc>
              </a:tr>
              <a:tr h="1622573">
                <a:tc>
                  <a:txBody>
                    <a:bodyPr/>
                    <a:lstStyle/>
                    <a:p>
                      <a:r>
                        <a:rPr lang="en-US" sz="1300" dirty="0" smtClean="0">
                          <a:latin typeface="Times New Roman" pitchFamily="18" charset="0"/>
                          <a:cs typeface="Times New Roman" pitchFamily="18" charset="0"/>
                        </a:rPr>
                        <a:t>7</a:t>
                      </a:r>
                      <a:endParaRPr lang="en-US" sz="1300" dirty="0">
                        <a:latin typeface="Times New Roman" pitchFamily="18" charset="0"/>
                        <a:cs typeface="Times New Roman" pitchFamily="18" charset="0"/>
                      </a:endParaRPr>
                    </a:p>
                  </a:txBody>
                  <a:tcPr/>
                </a:tc>
                <a:tc>
                  <a:txBody>
                    <a:bodyPr/>
                    <a:lstStyle/>
                    <a:p>
                      <a:r>
                        <a:rPr lang="en-US" sz="1300" dirty="0" smtClean="0">
                          <a:latin typeface="Times New Roman" pitchFamily="18" charset="0"/>
                          <a:cs typeface="Times New Roman" pitchFamily="18" charset="0"/>
                        </a:rPr>
                        <a:t>From Language to Action: A Review of Large Language Models and Autonomous Agents (2026)</a:t>
                      </a:r>
                      <a:endParaRPr lang="en-US" sz="1300" dirty="0">
                        <a:latin typeface="Times New Roman" pitchFamily="18" charset="0"/>
                        <a:cs typeface="Times New Roman" pitchFamily="18" charset="0"/>
                      </a:endParaRPr>
                    </a:p>
                  </a:txBody>
                  <a:tcPr/>
                </a:tc>
                <a:tc>
                  <a:txBody>
                    <a:bodyPr/>
                    <a:lstStyle/>
                    <a:p>
                      <a:r>
                        <a:rPr lang="en-US" sz="1300" dirty="0" smtClean="0">
                          <a:latin typeface="Times New Roman" pitchFamily="18" charset="0"/>
                          <a:cs typeface="Times New Roman" pitchFamily="18" charset="0"/>
                        </a:rPr>
                        <a:t>Reviews the evolution of LLMs into autonomous systems capable of performing real-world actions.</a:t>
                      </a:r>
                      <a:endParaRPr lang="en-US" sz="1300" dirty="0">
                        <a:latin typeface="Times New Roman" pitchFamily="18" charset="0"/>
                        <a:cs typeface="Times New Roman" pitchFamily="18" charset="0"/>
                      </a:endParaRPr>
                    </a:p>
                  </a:txBody>
                  <a:tcPr/>
                </a:tc>
                <a:tc>
                  <a:txBody>
                    <a:bodyPr/>
                    <a:lstStyle/>
                    <a:p>
                      <a:r>
                        <a:rPr lang="en-US" sz="1300" b="1" dirty="0" smtClean="0">
                          <a:latin typeface="Times New Roman" pitchFamily="18" charset="0"/>
                          <a:cs typeface="Times New Roman" pitchFamily="18" charset="0"/>
                        </a:rPr>
                        <a:t>Drawbacks:</a:t>
                      </a:r>
                      <a:r>
                        <a:rPr lang="en-US" sz="1300" dirty="0" smtClean="0">
                          <a:latin typeface="Times New Roman" pitchFamily="18" charset="0"/>
                          <a:cs typeface="Times New Roman" pitchFamily="18" charset="0"/>
                        </a:rPr>
                        <a:t> Privacy concerns and high computational requirements. </a:t>
                      </a:r>
                      <a:r>
                        <a:rPr lang="en-US" sz="1300" b="1" dirty="0" smtClean="0">
                          <a:latin typeface="Times New Roman" pitchFamily="18" charset="0"/>
                          <a:cs typeface="Times New Roman" pitchFamily="18" charset="0"/>
                        </a:rPr>
                        <a:t>Accuracy:</a:t>
                      </a:r>
                      <a:r>
                        <a:rPr lang="en-US" sz="1300" dirty="0" smtClean="0">
                          <a:latin typeface="Times New Roman" pitchFamily="18" charset="0"/>
                          <a:cs typeface="Times New Roman" pitchFamily="18" charset="0"/>
                        </a:rPr>
                        <a:t> Not reported.</a:t>
                      </a:r>
                      <a:endParaRPr lang="en-US" sz="1300" dirty="0">
                        <a:latin typeface="Times New Roman" pitchFamily="18" charset="0"/>
                        <a:cs typeface="Times New Roman" pitchFamily="18" charset="0"/>
                      </a:endParaRPr>
                    </a:p>
                  </a:txBody>
                  <a:tcPr/>
                </a:tc>
                <a:tc>
                  <a:txBody>
                    <a:bodyPr/>
                    <a:lstStyle/>
                    <a:p>
                      <a:r>
                        <a:rPr lang="en-US" sz="1300" dirty="0" smtClean="0">
                          <a:latin typeface="Times New Roman" pitchFamily="18" charset="0"/>
                          <a:cs typeface="Times New Roman" pitchFamily="18" charset="0"/>
                        </a:rPr>
                        <a:t>Demonstrates how autonomous agents can perform enterprise-level tasks.</a:t>
                      </a:r>
                      <a:endParaRPr lang="en-US" sz="1300" dirty="0">
                        <a:latin typeface="Times New Roman" pitchFamily="18" charset="0"/>
                        <a:cs typeface="Times New Roman" pitchFamily="18" charset="0"/>
                      </a:endParaRPr>
                    </a:p>
                  </a:txBody>
                  <a:tcPr/>
                </a:tc>
              </a:tr>
              <a:tr h="1622573">
                <a:tc>
                  <a:txBody>
                    <a:bodyPr/>
                    <a:lstStyle/>
                    <a:p>
                      <a:r>
                        <a:rPr lang="en-US" sz="1300" dirty="0" smtClean="0">
                          <a:latin typeface="Times New Roman" pitchFamily="18" charset="0"/>
                          <a:cs typeface="Times New Roman" pitchFamily="18" charset="0"/>
                        </a:rPr>
                        <a:t>8</a:t>
                      </a:r>
                      <a:endParaRPr lang="en-US" sz="1300" dirty="0">
                        <a:latin typeface="Times New Roman" pitchFamily="18" charset="0"/>
                        <a:cs typeface="Times New Roman" pitchFamily="18" charset="0"/>
                      </a:endParaRPr>
                    </a:p>
                  </a:txBody>
                  <a:tcPr/>
                </a:tc>
                <a:tc>
                  <a:txBody>
                    <a:bodyPr/>
                    <a:lstStyle/>
                    <a:p>
                      <a:r>
                        <a:rPr lang="en-US" sz="1300" dirty="0" smtClean="0">
                          <a:latin typeface="Times New Roman" pitchFamily="18" charset="0"/>
                          <a:cs typeface="Times New Roman" pitchFamily="18" charset="0"/>
                        </a:rPr>
                        <a:t>A Multi-Agent Approach with Verifiable and Data Sovereign Information Flows for Decentralizing Federated Distributed Energy Systems (2025)</a:t>
                      </a:r>
                      <a:endParaRPr lang="en-US" sz="1300" dirty="0">
                        <a:latin typeface="Times New Roman" pitchFamily="18" charset="0"/>
                        <a:cs typeface="Times New Roman" pitchFamily="18" charset="0"/>
                      </a:endParaRPr>
                    </a:p>
                  </a:txBody>
                  <a:tcPr/>
                </a:tc>
                <a:tc>
                  <a:txBody>
                    <a:bodyPr/>
                    <a:lstStyle/>
                    <a:p>
                      <a:r>
                        <a:rPr lang="en-US" sz="1300" dirty="0" smtClean="0">
                          <a:latin typeface="Times New Roman" pitchFamily="18" charset="0"/>
                          <a:cs typeface="Times New Roman" pitchFamily="18" charset="0"/>
                        </a:rPr>
                        <a:t>Proposes a secure framework for data sharing and cooperation among distributed agents.</a:t>
                      </a:r>
                      <a:endParaRPr lang="en-US" sz="1300" dirty="0">
                        <a:latin typeface="Times New Roman" pitchFamily="18" charset="0"/>
                        <a:cs typeface="Times New Roman" pitchFamily="18" charset="0"/>
                      </a:endParaRPr>
                    </a:p>
                  </a:txBody>
                  <a:tcPr/>
                </a:tc>
                <a:tc>
                  <a:txBody>
                    <a:bodyPr/>
                    <a:lstStyle/>
                    <a:p>
                      <a:r>
                        <a:rPr lang="en-US" sz="1300" b="1" dirty="0" smtClean="0">
                          <a:latin typeface="Times New Roman" pitchFamily="18" charset="0"/>
                          <a:cs typeface="Times New Roman" pitchFamily="18" charset="0"/>
                        </a:rPr>
                        <a:t>Drawbacks:</a:t>
                      </a:r>
                      <a:r>
                        <a:rPr lang="en-US" sz="1300" dirty="0" smtClean="0">
                          <a:latin typeface="Times New Roman" pitchFamily="18" charset="0"/>
                          <a:cs typeface="Times New Roman" pitchFamily="18" charset="0"/>
                        </a:rPr>
                        <a:t> Increased complexity due to privacy and security requirements. </a:t>
                      </a:r>
                      <a:r>
                        <a:rPr lang="en-US" sz="1300" b="1" dirty="0" smtClean="0">
                          <a:latin typeface="Times New Roman" pitchFamily="18" charset="0"/>
                          <a:cs typeface="Times New Roman" pitchFamily="18" charset="0"/>
                        </a:rPr>
                        <a:t>Accuracy:</a:t>
                      </a:r>
                      <a:r>
                        <a:rPr lang="en-US" sz="1300" dirty="0" smtClean="0">
                          <a:latin typeface="Times New Roman" pitchFamily="18" charset="0"/>
                          <a:cs typeface="Times New Roman" pitchFamily="18" charset="0"/>
                        </a:rPr>
                        <a:t> Not reported.</a:t>
                      </a:r>
                      <a:endParaRPr lang="en-US" sz="1300" dirty="0">
                        <a:latin typeface="Times New Roman" pitchFamily="18" charset="0"/>
                        <a:cs typeface="Times New Roman" pitchFamily="18" charset="0"/>
                      </a:endParaRPr>
                    </a:p>
                  </a:txBody>
                  <a:tcPr/>
                </a:tc>
                <a:tc>
                  <a:txBody>
                    <a:bodyPr/>
                    <a:lstStyle/>
                    <a:p>
                      <a:r>
                        <a:rPr lang="en-US" sz="1300" dirty="0" smtClean="0">
                          <a:latin typeface="Times New Roman" pitchFamily="18" charset="0"/>
                          <a:cs typeface="Times New Roman" pitchFamily="18" charset="0"/>
                        </a:rPr>
                        <a:t>Provides ideas for secure data sharing between agents in our </a:t>
                      </a:r>
                      <a:r>
                        <a:rPr lang="en-US" sz="1300" dirty="0" err="1" smtClean="0">
                          <a:latin typeface="Times New Roman" pitchFamily="18" charset="0"/>
                          <a:cs typeface="Times New Roman" pitchFamily="18" charset="0"/>
                        </a:rPr>
                        <a:t>projec</a:t>
                      </a:r>
                      <a:endParaRPr lang="en-US" sz="1300" dirty="0">
                        <a:latin typeface="Times New Roman" pitchFamily="18" charset="0"/>
                        <a:cs typeface="Times New Roman" pitchFamily="18" charset="0"/>
                      </a:endParaRPr>
                    </a:p>
                  </a:txBody>
                  <a:tcPr/>
                </a:tc>
              </a:tr>
              <a:tr h="1622573">
                <a:tc>
                  <a:txBody>
                    <a:bodyPr/>
                    <a:lstStyle/>
                    <a:p>
                      <a:r>
                        <a:rPr lang="en-US" sz="1300" dirty="0" smtClean="0">
                          <a:latin typeface="Times New Roman" pitchFamily="18" charset="0"/>
                          <a:cs typeface="Times New Roman" pitchFamily="18" charset="0"/>
                        </a:rPr>
                        <a:t>9</a:t>
                      </a:r>
                      <a:endParaRPr lang="en-US" sz="1300" dirty="0">
                        <a:latin typeface="Times New Roman" pitchFamily="18" charset="0"/>
                        <a:cs typeface="Times New Roman" pitchFamily="18" charset="0"/>
                      </a:endParaRPr>
                    </a:p>
                  </a:txBody>
                  <a:tcPr/>
                </a:tc>
                <a:tc>
                  <a:txBody>
                    <a:bodyPr/>
                    <a:lstStyle/>
                    <a:p>
                      <a:r>
                        <a:rPr lang="en-US" sz="1300" dirty="0" smtClean="0">
                          <a:latin typeface="Times New Roman" pitchFamily="18" charset="0"/>
                          <a:cs typeface="Times New Roman" pitchFamily="18" charset="0"/>
                        </a:rPr>
                        <a:t>A Multi-Layered AI-Driven </a:t>
                      </a:r>
                      <a:r>
                        <a:rPr lang="en-US" sz="1300" dirty="0" err="1" smtClean="0">
                          <a:latin typeface="Times New Roman" pitchFamily="18" charset="0"/>
                          <a:cs typeface="Times New Roman" pitchFamily="18" charset="0"/>
                        </a:rPr>
                        <a:t>Cybersecurity</a:t>
                      </a:r>
                      <a:r>
                        <a:rPr lang="en-US" sz="1300" dirty="0" smtClean="0">
                          <a:latin typeface="Times New Roman" pitchFamily="18" charset="0"/>
                          <a:cs typeface="Times New Roman" pitchFamily="18" charset="0"/>
                        </a:rPr>
                        <a:t> Architecture: Integrating Entropy Analytics, Fuzzy Reasoning, Game Theory, and Multi-Agent Learning for Adaptive Threat Defense (2025)</a:t>
                      </a:r>
                      <a:endParaRPr lang="en-US" sz="1300" dirty="0">
                        <a:latin typeface="Times New Roman" pitchFamily="18" charset="0"/>
                        <a:cs typeface="Times New Roman" pitchFamily="18" charset="0"/>
                      </a:endParaRPr>
                    </a:p>
                  </a:txBody>
                  <a:tcPr/>
                </a:tc>
                <a:tc>
                  <a:txBody>
                    <a:bodyPr/>
                    <a:lstStyle/>
                    <a:p>
                      <a:r>
                        <a:rPr lang="en-US" sz="1300" dirty="0" smtClean="0">
                          <a:latin typeface="Times New Roman" pitchFamily="18" charset="0"/>
                          <a:cs typeface="Times New Roman" pitchFamily="18" charset="0"/>
                        </a:rPr>
                        <a:t>Introduces a layered security model for detecting and responding to cyber threats.</a:t>
                      </a:r>
                      <a:endParaRPr lang="en-US" sz="1300" dirty="0">
                        <a:latin typeface="Times New Roman" pitchFamily="18" charset="0"/>
                        <a:cs typeface="Times New Roman" pitchFamily="18" charset="0"/>
                      </a:endParaRPr>
                    </a:p>
                  </a:txBody>
                  <a:tcPr/>
                </a:tc>
                <a:tc>
                  <a:txBody>
                    <a:bodyPr/>
                    <a:lstStyle/>
                    <a:p>
                      <a:r>
                        <a:rPr lang="en-US" sz="1300" b="1" dirty="0" smtClean="0">
                          <a:latin typeface="Times New Roman" pitchFamily="18" charset="0"/>
                          <a:cs typeface="Times New Roman" pitchFamily="18" charset="0"/>
                        </a:rPr>
                        <a:t>Drawbacks:</a:t>
                      </a:r>
                      <a:r>
                        <a:rPr lang="en-US" sz="1300" dirty="0" smtClean="0">
                          <a:latin typeface="Times New Roman" pitchFamily="18" charset="0"/>
                          <a:cs typeface="Times New Roman" pitchFamily="18" charset="0"/>
                        </a:rPr>
                        <a:t> Traditional methods are ineffective against advanced attacks. </a:t>
                      </a:r>
                      <a:r>
                        <a:rPr lang="en-US" sz="1300" b="1" dirty="0" smtClean="0">
                          <a:latin typeface="Times New Roman" pitchFamily="18" charset="0"/>
                          <a:cs typeface="Times New Roman" pitchFamily="18" charset="0"/>
                        </a:rPr>
                        <a:t>Accuracy:</a:t>
                      </a:r>
                      <a:r>
                        <a:rPr lang="en-US" sz="1300" dirty="0" smtClean="0">
                          <a:latin typeface="Times New Roman" pitchFamily="18" charset="0"/>
                          <a:cs typeface="Times New Roman" pitchFamily="18" charset="0"/>
                        </a:rPr>
                        <a:t> Not reported.</a:t>
                      </a:r>
                      <a:endParaRPr lang="en-US" sz="1300" dirty="0">
                        <a:latin typeface="Times New Roman" pitchFamily="18" charset="0"/>
                        <a:cs typeface="Times New Roman" pitchFamily="18" charset="0"/>
                      </a:endParaRPr>
                    </a:p>
                  </a:txBody>
                  <a:tcPr/>
                </a:tc>
                <a:tc>
                  <a:txBody>
                    <a:bodyPr/>
                    <a:lstStyle/>
                    <a:p>
                      <a:r>
                        <a:rPr lang="en-US" sz="1300" dirty="0" smtClean="0">
                          <a:latin typeface="Times New Roman" pitchFamily="18" charset="0"/>
                          <a:cs typeface="Times New Roman" pitchFamily="18" charset="0"/>
                        </a:rPr>
                        <a:t>Supports the </a:t>
                      </a:r>
                      <a:r>
                        <a:rPr lang="en-US" sz="1300" dirty="0" err="1" smtClean="0">
                          <a:latin typeface="Times New Roman" pitchFamily="18" charset="0"/>
                          <a:cs typeface="Times New Roman" pitchFamily="18" charset="0"/>
                        </a:rPr>
                        <a:t>cybersecurity</a:t>
                      </a:r>
                      <a:r>
                        <a:rPr lang="en-US" sz="1300" dirty="0" smtClean="0">
                          <a:latin typeface="Times New Roman" pitchFamily="18" charset="0"/>
                          <a:cs typeface="Times New Roman" pitchFamily="18" charset="0"/>
                        </a:rPr>
                        <a:t> component of our enterprise assistant.</a:t>
                      </a:r>
                      <a:endParaRPr lang="en-US" sz="13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152400"/>
            <a:ext cx="73152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LITERATURE SURVEY</a:t>
            </a:r>
            <a:endParaRPr lang="en-US" sz="2400" b="1" dirty="0">
              <a:latin typeface="Times New Roman" pitchFamily="18" charset="0"/>
              <a:cs typeface="Times New Roman" pitchFamily="18" charset="0"/>
            </a:endParaRPr>
          </a:p>
        </p:txBody>
      </p:sp>
      <p:graphicFrame>
        <p:nvGraphicFramePr>
          <p:cNvPr id="7" name="Table 6"/>
          <p:cNvGraphicFramePr>
            <a:graphicFrameLocks noGrp="1"/>
          </p:cNvGraphicFramePr>
          <p:nvPr/>
        </p:nvGraphicFramePr>
        <p:xfrm>
          <a:off x="381000" y="685800"/>
          <a:ext cx="8534400" cy="5782119"/>
        </p:xfrm>
        <a:graphic>
          <a:graphicData uri="http://schemas.openxmlformats.org/drawingml/2006/table">
            <a:tbl>
              <a:tblPr firstRow="1" bandRow="1">
                <a:tableStyleId>{5C22544A-7EE6-4342-B048-85BDC9FD1C3A}</a:tableStyleId>
              </a:tblPr>
              <a:tblGrid>
                <a:gridCol w="836706"/>
                <a:gridCol w="1924424"/>
                <a:gridCol w="2426447"/>
                <a:gridCol w="1594223"/>
                <a:gridCol w="1752600"/>
              </a:tblGrid>
              <a:tr h="790427">
                <a:tc>
                  <a:txBody>
                    <a:bodyPr/>
                    <a:lstStyle/>
                    <a:p>
                      <a:r>
                        <a:rPr lang="en-US" dirty="0" smtClean="0"/>
                        <a:t>SL NO</a:t>
                      </a:r>
                      <a:endParaRPr lang="en-US" dirty="0"/>
                    </a:p>
                  </a:txBody>
                  <a:tcPr/>
                </a:tc>
                <a:tc>
                  <a:txBody>
                    <a:bodyPr/>
                    <a:lstStyle/>
                    <a:p>
                      <a:r>
                        <a:rPr lang="en-US" dirty="0" smtClean="0"/>
                        <a:t>TITTLE AND YEAR OF PUBLICATION</a:t>
                      </a:r>
                      <a:endParaRPr lang="en-US" dirty="0"/>
                    </a:p>
                  </a:txBody>
                  <a:tcPr/>
                </a:tc>
                <a:tc>
                  <a:txBody>
                    <a:bodyPr/>
                    <a:lstStyle/>
                    <a:p>
                      <a:r>
                        <a:rPr lang="en-US" dirty="0" smtClean="0"/>
                        <a:t>SUMMARY</a:t>
                      </a:r>
                      <a:endParaRPr lang="en-US" dirty="0"/>
                    </a:p>
                  </a:txBody>
                  <a:tcPr/>
                </a:tc>
                <a:tc>
                  <a:txBody>
                    <a:bodyPr/>
                    <a:lstStyle/>
                    <a:p>
                      <a:r>
                        <a:rPr lang="en-US" dirty="0" smtClean="0"/>
                        <a:t>DRAWBACKS</a:t>
                      </a:r>
                    </a:p>
                    <a:p>
                      <a:r>
                        <a:rPr lang="en-US" dirty="0" smtClean="0"/>
                        <a:t>AND</a:t>
                      </a:r>
                      <a:r>
                        <a:rPr lang="en-US" baseline="0" dirty="0" smtClean="0"/>
                        <a:t> ACCURACY</a:t>
                      </a:r>
                      <a:endParaRPr lang="en-US" dirty="0"/>
                    </a:p>
                  </a:txBody>
                  <a:tcPr/>
                </a:tc>
                <a:tc>
                  <a:txBody>
                    <a:bodyPr/>
                    <a:lstStyle/>
                    <a:p>
                      <a:r>
                        <a:rPr lang="en-US" dirty="0" smtClean="0"/>
                        <a:t>HOW IT IS RELATED TO OUR PROJECT</a:t>
                      </a:r>
                      <a:endParaRPr lang="en-US" dirty="0"/>
                    </a:p>
                  </a:txBody>
                  <a:tcPr/>
                </a:tc>
              </a:tr>
              <a:tr h="1622573">
                <a:tc>
                  <a:txBody>
                    <a:bodyPr/>
                    <a:lstStyle/>
                    <a:p>
                      <a:r>
                        <a:rPr lang="en-US" sz="1400" dirty="0" smtClean="0">
                          <a:latin typeface="Times New Roman" pitchFamily="18" charset="0"/>
                          <a:cs typeface="Times New Roman" pitchFamily="18" charset="0"/>
                        </a:rPr>
                        <a:t>10</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AI-Agent Communication Network for 6G: Vision, Architecture, and Key Technologies (2025)</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Describes communication protocols and architectures for collaborative AI agents.</a:t>
                      </a:r>
                      <a:endParaRPr lang="en-US" sz="1400" dirty="0">
                        <a:latin typeface="Times New Roman" pitchFamily="18" charset="0"/>
                        <a:cs typeface="Times New Roman" pitchFamily="18" charset="0"/>
                      </a:endParaRPr>
                    </a:p>
                  </a:txBody>
                  <a:tcPr/>
                </a:tc>
                <a:tc>
                  <a:txBody>
                    <a:bodyPr/>
                    <a:lstStyle/>
                    <a:p>
                      <a:r>
                        <a:rPr lang="en-US" sz="1400" b="1" dirty="0" smtClean="0">
                          <a:latin typeface="Times New Roman" pitchFamily="18" charset="0"/>
                          <a:cs typeface="Times New Roman" pitchFamily="18" charset="0"/>
                        </a:rPr>
                        <a:t>Drawbacks:</a:t>
                      </a:r>
                      <a:r>
                        <a:rPr lang="en-US" sz="1400" dirty="0" smtClean="0">
                          <a:latin typeface="Times New Roman" pitchFamily="18" charset="0"/>
                          <a:cs typeface="Times New Roman" pitchFamily="18" charset="0"/>
                        </a:rPr>
                        <a:t> Security and scalability issues. </a:t>
                      </a:r>
                      <a:r>
                        <a:rPr lang="en-US" sz="1400" b="1" dirty="0" smtClean="0">
                          <a:latin typeface="Times New Roman" pitchFamily="18" charset="0"/>
                          <a:cs typeface="Times New Roman" pitchFamily="18" charset="0"/>
                        </a:rPr>
                        <a:t>Accuracy:</a:t>
                      </a:r>
                      <a:r>
                        <a:rPr lang="en-US" sz="1400" dirty="0" smtClean="0">
                          <a:latin typeface="Times New Roman" pitchFamily="18" charset="0"/>
                          <a:cs typeface="Times New Roman" pitchFamily="18" charset="0"/>
                        </a:rPr>
                        <a:t> Not reported.</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Provides communication models that can be applied to interactions between agents in our system.</a:t>
                      </a:r>
                      <a:endParaRPr lang="en-US" sz="1400" dirty="0">
                        <a:latin typeface="Times New Roman" pitchFamily="18" charset="0"/>
                        <a:cs typeface="Times New Roman" pitchFamily="18" charset="0"/>
                      </a:endParaRPr>
                    </a:p>
                  </a:txBody>
                  <a:tcPr/>
                </a:tc>
              </a:tr>
              <a:tr h="1622573">
                <a:tc>
                  <a:txBody>
                    <a:bodyPr/>
                    <a:lstStyle/>
                    <a:p>
                      <a:r>
                        <a:rPr lang="en-US" sz="1400" dirty="0" smtClean="0">
                          <a:latin typeface="Times New Roman" pitchFamily="18" charset="0"/>
                          <a:cs typeface="Times New Roman" pitchFamily="18" charset="0"/>
                        </a:rPr>
                        <a:t>11</a:t>
                      </a:r>
                      <a:endParaRPr lang="en-US" sz="1400" dirty="0">
                        <a:latin typeface="Times New Roman" pitchFamily="18" charset="0"/>
                        <a:cs typeface="Times New Roman" pitchFamily="18" charset="0"/>
                      </a:endParaRPr>
                    </a:p>
                  </a:txBody>
                  <a:tcPr/>
                </a:tc>
                <a:tc>
                  <a:txBody>
                    <a:bodyPr/>
                    <a:lstStyle/>
                    <a:p>
                      <a:r>
                        <a:rPr lang="en-US" sz="1400" dirty="0" err="1" smtClean="0">
                          <a:latin typeface="Times New Roman" pitchFamily="18" charset="0"/>
                          <a:cs typeface="Times New Roman" pitchFamily="18" charset="0"/>
                        </a:rPr>
                        <a:t>Agentic</a:t>
                      </a:r>
                      <a:r>
                        <a:rPr lang="en-US" sz="1400" dirty="0" smtClean="0">
                          <a:latin typeface="Times New Roman" pitchFamily="18" charset="0"/>
                          <a:cs typeface="Times New Roman" pitchFamily="18" charset="0"/>
                        </a:rPr>
                        <a:t> AI: Autonomous Intelligence for Complex Goal-Oriented Systems – A Survey (2025)</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Provides a comprehensive overview of </a:t>
                      </a:r>
                      <a:r>
                        <a:rPr lang="en-US" sz="1400" dirty="0" err="1" smtClean="0">
                          <a:latin typeface="Times New Roman" pitchFamily="18" charset="0"/>
                          <a:cs typeface="Times New Roman" pitchFamily="18" charset="0"/>
                        </a:rPr>
                        <a:t>agentic</a:t>
                      </a:r>
                      <a:r>
                        <a:rPr lang="en-US" sz="1400" dirty="0" smtClean="0">
                          <a:latin typeface="Times New Roman" pitchFamily="18" charset="0"/>
                          <a:cs typeface="Times New Roman" pitchFamily="18" charset="0"/>
                        </a:rPr>
                        <a:t> AI and autonomous decision-making systems.</a:t>
                      </a:r>
                      <a:endParaRPr lang="en-US" sz="1400" dirty="0">
                        <a:latin typeface="Times New Roman" pitchFamily="18" charset="0"/>
                        <a:cs typeface="Times New Roman" pitchFamily="18" charset="0"/>
                      </a:endParaRPr>
                    </a:p>
                  </a:txBody>
                  <a:tcPr/>
                </a:tc>
                <a:tc>
                  <a:txBody>
                    <a:bodyPr/>
                    <a:lstStyle/>
                    <a:p>
                      <a:r>
                        <a:rPr lang="en-US" sz="1400" b="1" dirty="0" smtClean="0">
                          <a:latin typeface="Times New Roman" pitchFamily="18" charset="0"/>
                          <a:cs typeface="Times New Roman" pitchFamily="18" charset="0"/>
                        </a:rPr>
                        <a:t>Drawbacks:</a:t>
                      </a:r>
                      <a:r>
                        <a:rPr lang="en-US" sz="1400" dirty="0" smtClean="0">
                          <a:latin typeface="Times New Roman" pitchFamily="18" charset="0"/>
                          <a:cs typeface="Times New Roman" pitchFamily="18" charset="0"/>
                        </a:rPr>
                        <a:t> Ethical concerns and safety risks. </a:t>
                      </a:r>
                      <a:r>
                        <a:rPr lang="en-US" sz="1400" b="1" dirty="0" smtClean="0">
                          <a:latin typeface="Times New Roman" pitchFamily="18" charset="0"/>
                          <a:cs typeface="Times New Roman" pitchFamily="18" charset="0"/>
                        </a:rPr>
                        <a:t>Accuracy:</a:t>
                      </a:r>
                      <a:r>
                        <a:rPr lang="en-US" sz="1400" dirty="0" smtClean="0">
                          <a:latin typeface="Times New Roman" pitchFamily="18" charset="0"/>
                          <a:cs typeface="Times New Roman" pitchFamily="18" charset="0"/>
                        </a:rPr>
                        <a:t> Not reported.</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Directly supports the design and implementation of our agent-based architecture.</a:t>
                      </a:r>
                      <a:endParaRPr lang="en-US" sz="1400" dirty="0">
                        <a:latin typeface="Times New Roman" pitchFamily="18" charset="0"/>
                        <a:cs typeface="Times New Roman" pitchFamily="18" charset="0"/>
                      </a:endParaRPr>
                    </a:p>
                  </a:txBody>
                  <a:tcPr/>
                </a:tc>
              </a:tr>
              <a:tr h="1622573">
                <a:tc>
                  <a:txBody>
                    <a:bodyPr/>
                    <a:lstStyle/>
                    <a:p>
                      <a:r>
                        <a:rPr lang="en-US" sz="1400" dirty="0" smtClean="0">
                          <a:latin typeface="Times New Roman" pitchFamily="18" charset="0"/>
                          <a:cs typeface="Times New Roman" pitchFamily="18" charset="0"/>
                        </a:rPr>
                        <a:t>12</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Security of Internet of Agents and Countermeasures (2025)</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Examines security threats and countermeasures in networks containing multiple intelligent agents.</a:t>
                      </a:r>
                      <a:endParaRPr lang="en-US" sz="1400" dirty="0">
                        <a:latin typeface="Times New Roman" pitchFamily="18" charset="0"/>
                        <a:cs typeface="Times New Roman" pitchFamily="18" charset="0"/>
                      </a:endParaRPr>
                    </a:p>
                  </a:txBody>
                  <a:tcPr/>
                </a:tc>
                <a:tc>
                  <a:txBody>
                    <a:bodyPr/>
                    <a:lstStyle/>
                    <a:p>
                      <a:r>
                        <a:rPr lang="en-US" sz="1400" b="1" dirty="0" smtClean="0">
                          <a:latin typeface="Times New Roman" pitchFamily="18" charset="0"/>
                          <a:cs typeface="Times New Roman" pitchFamily="18" charset="0"/>
                        </a:rPr>
                        <a:t>Drawbacks:</a:t>
                      </a:r>
                      <a:r>
                        <a:rPr lang="en-US" sz="1400" dirty="0" smtClean="0">
                          <a:latin typeface="Times New Roman" pitchFamily="18" charset="0"/>
                          <a:cs typeface="Times New Roman" pitchFamily="18" charset="0"/>
                        </a:rPr>
                        <a:t> Trust management and authentication challenges. </a:t>
                      </a:r>
                      <a:r>
                        <a:rPr lang="en-US" sz="1400" b="1" dirty="0" smtClean="0">
                          <a:latin typeface="Times New Roman" pitchFamily="18" charset="0"/>
                          <a:cs typeface="Times New Roman" pitchFamily="18" charset="0"/>
                        </a:rPr>
                        <a:t>Accuracy:</a:t>
                      </a:r>
                      <a:r>
                        <a:rPr lang="en-US" sz="1400" dirty="0" smtClean="0">
                          <a:latin typeface="Times New Roman" pitchFamily="18" charset="0"/>
                          <a:cs typeface="Times New Roman" pitchFamily="18" charset="0"/>
                        </a:rPr>
                        <a:t> Not reported.</a:t>
                      </a:r>
                      <a:endParaRPr lang="en-US" sz="1400" dirty="0">
                        <a:latin typeface="Times New Roman" pitchFamily="18" charset="0"/>
                        <a:cs typeface="Times New Roman" pitchFamily="18" charset="0"/>
                      </a:endParaRPr>
                    </a:p>
                  </a:txBody>
                  <a:tcPr/>
                </a:tc>
                <a:tc>
                  <a:txBody>
                    <a:bodyPr/>
                    <a:lstStyle/>
                    <a:p>
                      <a:r>
                        <a:rPr lang="en-US" sz="1400" dirty="0" smtClean="0">
                          <a:latin typeface="Times New Roman" pitchFamily="18" charset="0"/>
                          <a:cs typeface="Times New Roman" pitchFamily="18" charset="0"/>
                        </a:rPr>
                        <a:t>Provides security mechanisms that can be incorporated into our enterprise assistant.</a:t>
                      </a:r>
                      <a:endParaRPr lang="en-US" sz="14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152400"/>
            <a:ext cx="73152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LITERATURE SURVEY</a:t>
            </a:r>
            <a:endParaRPr lang="en-US" sz="2400" b="1" dirty="0">
              <a:latin typeface="Times New Roman" pitchFamily="18" charset="0"/>
              <a:cs typeface="Times New Roman" pitchFamily="18" charset="0"/>
            </a:endParaRPr>
          </a:p>
        </p:txBody>
      </p:sp>
      <p:graphicFrame>
        <p:nvGraphicFramePr>
          <p:cNvPr id="7" name="Table 6"/>
          <p:cNvGraphicFramePr>
            <a:graphicFrameLocks noGrp="1"/>
          </p:cNvGraphicFramePr>
          <p:nvPr/>
        </p:nvGraphicFramePr>
        <p:xfrm>
          <a:off x="381000" y="685800"/>
          <a:ext cx="8534400" cy="5927386"/>
        </p:xfrm>
        <a:graphic>
          <a:graphicData uri="http://schemas.openxmlformats.org/drawingml/2006/table">
            <a:tbl>
              <a:tblPr firstRow="1" bandRow="1">
                <a:tableStyleId>{5C22544A-7EE6-4342-B048-85BDC9FD1C3A}</a:tableStyleId>
              </a:tblPr>
              <a:tblGrid>
                <a:gridCol w="836706"/>
                <a:gridCol w="1924424"/>
                <a:gridCol w="2426447"/>
                <a:gridCol w="1594223"/>
                <a:gridCol w="1752600"/>
              </a:tblGrid>
              <a:tr h="790427">
                <a:tc>
                  <a:txBody>
                    <a:bodyPr/>
                    <a:lstStyle/>
                    <a:p>
                      <a:r>
                        <a:rPr lang="en-US" dirty="0" smtClean="0"/>
                        <a:t>SL NO</a:t>
                      </a:r>
                      <a:endParaRPr lang="en-US" dirty="0"/>
                    </a:p>
                  </a:txBody>
                  <a:tcPr/>
                </a:tc>
                <a:tc>
                  <a:txBody>
                    <a:bodyPr/>
                    <a:lstStyle/>
                    <a:p>
                      <a:r>
                        <a:rPr lang="en-US" dirty="0" smtClean="0"/>
                        <a:t>TITTLE AND YEAR OF PUBLICATION</a:t>
                      </a:r>
                      <a:endParaRPr lang="en-US" dirty="0"/>
                    </a:p>
                  </a:txBody>
                  <a:tcPr/>
                </a:tc>
                <a:tc>
                  <a:txBody>
                    <a:bodyPr/>
                    <a:lstStyle/>
                    <a:p>
                      <a:r>
                        <a:rPr lang="en-US" dirty="0" smtClean="0"/>
                        <a:t>SUMMARY</a:t>
                      </a:r>
                      <a:endParaRPr lang="en-US" dirty="0"/>
                    </a:p>
                  </a:txBody>
                  <a:tcPr/>
                </a:tc>
                <a:tc>
                  <a:txBody>
                    <a:bodyPr/>
                    <a:lstStyle/>
                    <a:p>
                      <a:r>
                        <a:rPr lang="en-US" dirty="0" smtClean="0"/>
                        <a:t>DRAWBACKS</a:t>
                      </a:r>
                    </a:p>
                    <a:p>
                      <a:r>
                        <a:rPr lang="en-US" dirty="0" smtClean="0"/>
                        <a:t>AND</a:t>
                      </a:r>
                      <a:r>
                        <a:rPr lang="en-US" baseline="0" dirty="0" smtClean="0"/>
                        <a:t> ACCURACY</a:t>
                      </a:r>
                      <a:endParaRPr lang="en-US" dirty="0"/>
                    </a:p>
                  </a:txBody>
                  <a:tcPr/>
                </a:tc>
                <a:tc>
                  <a:txBody>
                    <a:bodyPr/>
                    <a:lstStyle/>
                    <a:p>
                      <a:r>
                        <a:rPr lang="en-US" dirty="0" smtClean="0"/>
                        <a:t>HOW IT IS RELATED TO OUR PROJECT</a:t>
                      </a:r>
                      <a:endParaRPr lang="en-US" dirty="0"/>
                    </a:p>
                  </a:txBody>
                  <a:tcPr/>
                </a:tc>
              </a:tr>
              <a:tr h="1622573">
                <a:tc>
                  <a:txBody>
                    <a:bodyPr/>
                    <a:lstStyle/>
                    <a:p>
                      <a:r>
                        <a:rPr lang="en-US" sz="1100" dirty="0" smtClean="0">
                          <a:latin typeface="Times New Roman" pitchFamily="18" charset="0"/>
                          <a:cs typeface="Times New Roman" pitchFamily="18" charset="0"/>
                        </a:rPr>
                        <a:t>13</a:t>
                      </a:r>
                      <a:endParaRPr lang="en-US" sz="1100" dirty="0">
                        <a:latin typeface="Times New Roman" pitchFamily="18" charset="0"/>
                        <a:cs typeface="Times New Roman" pitchFamily="18" charset="0"/>
                      </a:endParaRPr>
                    </a:p>
                  </a:txBody>
                  <a:tcPr/>
                </a:tc>
                <a:tc>
                  <a:txBody>
                    <a:bodyPr/>
                    <a:lstStyle/>
                    <a:p>
                      <a:r>
                        <a:rPr lang="en-US" sz="1100" dirty="0" smtClean="0">
                          <a:latin typeface="Times New Roman" pitchFamily="18" charset="0"/>
                          <a:cs typeface="Times New Roman" pitchFamily="18" charset="0"/>
                        </a:rPr>
                        <a:t>Finding the Optimal Security Policies for Autonomous Cyber Operations With Competitive Reinforcement Learning (2024)</a:t>
                      </a:r>
                      <a:endParaRPr lang="en-US" sz="1100" dirty="0">
                        <a:latin typeface="Times New Roman" pitchFamily="18" charset="0"/>
                        <a:cs typeface="Times New Roman" pitchFamily="18" charset="0"/>
                      </a:endParaRPr>
                    </a:p>
                  </a:txBody>
                  <a:tcPr/>
                </a:tc>
                <a:tc>
                  <a:txBody>
                    <a:bodyPr/>
                    <a:lstStyle/>
                    <a:p>
                      <a:r>
                        <a:rPr lang="en-US" sz="1100" dirty="0" smtClean="0">
                          <a:latin typeface="Times New Roman" pitchFamily="18" charset="0"/>
                          <a:cs typeface="Times New Roman" pitchFamily="18" charset="0"/>
                        </a:rPr>
                        <a:t>Proposes Competitive Reinforcement Learning to train autonomous attacker and defender agents in a simulated cyber environment. The agents learn optimal security policies through continuous interaction</a:t>
                      </a:r>
                      <a:endParaRPr lang="en-US" sz="1100" dirty="0">
                        <a:latin typeface="Times New Roman" pitchFamily="18" charset="0"/>
                        <a:cs typeface="Times New Roman" pitchFamily="18" charset="0"/>
                      </a:endParaRPr>
                    </a:p>
                  </a:txBody>
                  <a:tcPr/>
                </a:tc>
                <a:tc>
                  <a:txBody>
                    <a:bodyPr/>
                    <a:lstStyle/>
                    <a:p>
                      <a:r>
                        <a:rPr lang="en-US" sz="1100" b="1" dirty="0" smtClean="0">
                          <a:latin typeface="Times New Roman" pitchFamily="18" charset="0"/>
                          <a:cs typeface="Times New Roman" pitchFamily="18" charset="0"/>
                        </a:rPr>
                        <a:t>Drawbacks:</a:t>
                      </a:r>
                      <a:r>
                        <a:rPr lang="en-US" sz="1100" dirty="0" smtClean="0">
                          <a:latin typeface="Times New Roman" pitchFamily="18" charset="0"/>
                          <a:cs typeface="Times New Roman" pitchFamily="18" charset="0"/>
                        </a:rPr>
                        <a:t> Computationally expensive, limited real-world applicability, neural-network forgetting, and evaluation using only two competing agents. </a:t>
                      </a:r>
                      <a:r>
                        <a:rPr lang="en-US" sz="1100" b="1" dirty="0" smtClean="0">
                          <a:latin typeface="Times New Roman" pitchFamily="18" charset="0"/>
                          <a:cs typeface="Times New Roman" pitchFamily="18" charset="0"/>
                        </a:rPr>
                        <a:t>Accuracy:</a:t>
                      </a:r>
                      <a:r>
                        <a:rPr lang="en-US" sz="1100" dirty="0" smtClean="0">
                          <a:latin typeface="Times New Roman" pitchFamily="18" charset="0"/>
                          <a:cs typeface="Times New Roman" pitchFamily="18" charset="0"/>
                        </a:rPr>
                        <a:t> Not reported</a:t>
                      </a:r>
                      <a:endParaRPr lang="en-US" sz="1100" dirty="0">
                        <a:latin typeface="Times New Roman" pitchFamily="18" charset="0"/>
                        <a:cs typeface="Times New Roman" pitchFamily="18" charset="0"/>
                      </a:endParaRPr>
                    </a:p>
                  </a:txBody>
                  <a:tcPr/>
                </a:tc>
                <a:tc>
                  <a:txBody>
                    <a:bodyPr/>
                    <a:lstStyle/>
                    <a:p>
                      <a:r>
                        <a:rPr lang="en-US" sz="1100" dirty="0" smtClean="0">
                          <a:latin typeface="Times New Roman" pitchFamily="18" charset="0"/>
                          <a:cs typeface="Times New Roman" pitchFamily="18" charset="0"/>
                        </a:rPr>
                        <a:t>Demonstrates autonomous agents, policy learning, observations, actions, rewards, and iterative improvement. These concepts support the intelligent behavior of our multi-agent system.</a:t>
                      </a:r>
                      <a:endParaRPr lang="en-US" sz="1100" dirty="0">
                        <a:latin typeface="Times New Roman" pitchFamily="18" charset="0"/>
                        <a:cs typeface="Times New Roman" pitchFamily="18" charset="0"/>
                      </a:endParaRPr>
                    </a:p>
                  </a:txBody>
                  <a:tcPr/>
                </a:tc>
              </a:tr>
              <a:tr h="1622573">
                <a:tc>
                  <a:txBody>
                    <a:bodyPr/>
                    <a:lstStyle/>
                    <a:p>
                      <a:r>
                        <a:rPr lang="en-US" sz="1100" dirty="0" smtClean="0">
                          <a:latin typeface="Times New Roman" pitchFamily="18" charset="0"/>
                          <a:cs typeface="Times New Roman" pitchFamily="18" charset="0"/>
                        </a:rPr>
                        <a:t>14</a:t>
                      </a:r>
                      <a:endParaRPr lang="en-US" sz="1100" dirty="0">
                        <a:latin typeface="Times New Roman" pitchFamily="18" charset="0"/>
                        <a:cs typeface="Times New Roman" pitchFamily="18" charset="0"/>
                      </a:endParaRPr>
                    </a:p>
                  </a:txBody>
                  <a:tcPr/>
                </a:tc>
                <a:tc>
                  <a:txBody>
                    <a:bodyPr/>
                    <a:lstStyle/>
                    <a:p>
                      <a:r>
                        <a:rPr lang="en-US" sz="1100" dirty="0" smtClean="0">
                          <a:latin typeface="Times New Roman" pitchFamily="18" charset="0"/>
                          <a:cs typeface="Times New Roman" pitchFamily="18" charset="0"/>
                        </a:rPr>
                        <a:t>A Comprehensive Survey: Evaluating the Efficiency of Artificial Intelligence and Machine Learning Techniques on Cyber Security Solutions (2024)</a:t>
                      </a:r>
                      <a:endParaRPr lang="en-US" sz="1100" dirty="0">
                        <a:latin typeface="Times New Roman" pitchFamily="18" charset="0"/>
                        <a:cs typeface="Times New Roman" pitchFamily="18" charset="0"/>
                      </a:endParaRPr>
                    </a:p>
                  </a:txBody>
                  <a:tcPr/>
                </a:tc>
                <a:tc>
                  <a:txBody>
                    <a:bodyPr/>
                    <a:lstStyle/>
                    <a:p>
                      <a:r>
                        <a:rPr lang="en-US" sz="1100" dirty="0" smtClean="0">
                          <a:latin typeface="Times New Roman" pitchFamily="18" charset="0"/>
                          <a:cs typeface="Times New Roman" pitchFamily="18" charset="0"/>
                        </a:rPr>
                        <a:t>Presents a comprehensive survey of AI, ML, DL, RL, and </a:t>
                      </a:r>
                      <a:r>
                        <a:rPr lang="en-US" sz="1100" dirty="0" err="1" smtClean="0">
                          <a:latin typeface="Times New Roman" pitchFamily="18" charset="0"/>
                          <a:cs typeface="Times New Roman" pitchFamily="18" charset="0"/>
                        </a:rPr>
                        <a:t>ChatGPT</a:t>
                      </a:r>
                      <a:r>
                        <a:rPr lang="en-US" sz="1100" dirty="0" smtClean="0">
                          <a:latin typeface="Times New Roman" pitchFamily="18" charset="0"/>
                          <a:cs typeface="Times New Roman" pitchFamily="18" charset="0"/>
                        </a:rPr>
                        <a:t>-based techniques for </a:t>
                      </a:r>
                      <a:r>
                        <a:rPr lang="en-US" sz="1100" dirty="0" err="1" smtClean="0">
                          <a:latin typeface="Times New Roman" pitchFamily="18" charset="0"/>
                          <a:cs typeface="Times New Roman" pitchFamily="18" charset="0"/>
                        </a:rPr>
                        <a:t>cybersecurity</a:t>
                      </a:r>
                      <a:r>
                        <a:rPr lang="en-US" sz="1100" dirty="0" smtClean="0">
                          <a:latin typeface="Times New Roman" pitchFamily="18" charset="0"/>
                          <a:cs typeface="Times New Roman" pitchFamily="18" charset="0"/>
                        </a:rPr>
                        <a:t>, including malware detection, intrusion detection, phishing detection, fraud detection, vulnerability analysis, and zero-day attack detection</a:t>
                      </a:r>
                      <a:endParaRPr lang="en-US" sz="1100" dirty="0">
                        <a:latin typeface="Times New Roman" pitchFamily="18" charset="0"/>
                        <a:cs typeface="Times New Roman" pitchFamily="18" charset="0"/>
                      </a:endParaRPr>
                    </a:p>
                  </a:txBody>
                  <a:tcPr/>
                </a:tc>
                <a:tc>
                  <a:txBody>
                    <a:bodyPr/>
                    <a:lstStyle/>
                    <a:p>
                      <a:r>
                        <a:rPr lang="en-US" sz="1100" b="1" dirty="0" smtClean="0">
                          <a:latin typeface="Times New Roman" pitchFamily="18" charset="0"/>
                          <a:cs typeface="Times New Roman" pitchFamily="18" charset="0"/>
                        </a:rPr>
                        <a:t>Drawbacks:</a:t>
                      </a:r>
                      <a:r>
                        <a:rPr lang="en-US" sz="1100" dirty="0" smtClean="0">
                          <a:latin typeface="Times New Roman" pitchFamily="18" charset="0"/>
                          <a:cs typeface="Times New Roman" pitchFamily="18" charset="0"/>
                        </a:rPr>
                        <a:t> Data quality issues, high computational requirements, false positives, adversarial attacks, model bias, and the lack of up-to-date datasets. </a:t>
                      </a:r>
                      <a:r>
                        <a:rPr lang="en-US" sz="1100" b="1" dirty="0" smtClean="0">
                          <a:latin typeface="Times New Roman" pitchFamily="18" charset="0"/>
                          <a:cs typeface="Times New Roman" pitchFamily="18" charset="0"/>
                        </a:rPr>
                        <a:t>Accuracy:</a:t>
                      </a:r>
                      <a:r>
                        <a:rPr lang="en-US" sz="1100" dirty="0" smtClean="0">
                          <a:latin typeface="Times New Roman" pitchFamily="18" charset="0"/>
                          <a:cs typeface="Times New Roman" pitchFamily="18" charset="0"/>
                        </a:rPr>
                        <a:t> Not reported.</a:t>
                      </a:r>
                      <a:endParaRPr lang="en-US" sz="1100" dirty="0">
                        <a:latin typeface="Times New Roman" pitchFamily="18" charset="0"/>
                        <a:cs typeface="Times New Roman" pitchFamily="18" charset="0"/>
                      </a:endParaRPr>
                    </a:p>
                  </a:txBody>
                  <a:tcPr/>
                </a:tc>
                <a:tc>
                  <a:txBody>
                    <a:bodyPr/>
                    <a:lstStyle/>
                    <a:p>
                      <a:r>
                        <a:rPr lang="en-US" sz="1100" dirty="0" smtClean="0">
                          <a:latin typeface="Times New Roman" pitchFamily="18" charset="0"/>
                          <a:cs typeface="Times New Roman" pitchFamily="18" charset="0"/>
                        </a:rPr>
                        <a:t>Strongly supports the </a:t>
                      </a:r>
                      <a:r>
                        <a:rPr lang="en-US" sz="1100" dirty="0" err="1" smtClean="0">
                          <a:latin typeface="Times New Roman" pitchFamily="18" charset="0"/>
                          <a:cs typeface="Times New Roman" pitchFamily="18" charset="0"/>
                        </a:rPr>
                        <a:t>cybersecurity</a:t>
                      </a:r>
                      <a:r>
                        <a:rPr lang="en-US" sz="1100" dirty="0" smtClean="0">
                          <a:latin typeface="Times New Roman" pitchFamily="18" charset="0"/>
                          <a:cs typeface="Times New Roman" pitchFamily="18" charset="0"/>
                        </a:rPr>
                        <a:t> intelligence layer of our project by providing techniques for threat detection, adaptive response, and autonomous security management.</a:t>
                      </a:r>
                      <a:endParaRPr lang="en-US" sz="1100" dirty="0">
                        <a:latin typeface="Times New Roman" pitchFamily="18" charset="0"/>
                        <a:cs typeface="Times New Roman" pitchFamily="18" charset="0"/>
                      </a:endParaRPr>
                    </a:p>
                  </a:txBody>
                  <a:tcPr/>
                </a:tc>
              </a:tr>
              <a:tr h="1622573">
                <a:tc>
                  <a:txBody>
                    <a:bodyPr/>
                    <a:lstStyle/>
                    <a:p>
                      <a:r>
                        <a:rPr lang="en-US" sz="1100" dirty="0" smtClean="0">
                          <a:latin typeface="Times New Roman" pitchFamily="18" charset="0"/>
                          <a:cs typeface="Times New Roman" pitchFamily="18" charset="0"/>
                        </a:rPr>
                        <a:t>15</a:t>
                      </a:r>
                      <a:endParaRPr lang="en-US" sz="1100" dirty="0">
                        <a:latin typeface="Times New Roman" pitchFamily="18" charset="0"/>
                        <a:cs typeface="Times New Roman" pitchFamily="18" charset="0"/>
                      </a:endParaRPr>
                    </a:p>
                  </a:txBody>
                  <a:tcPr/>
                </a:tc>
                <a:tc>
                  <a:txBody>
                    <a:bodyPr/>
                    <a:lstStyle/>
                    <a:p>
                      <a:r>
                        <a:rPr lang="en-US" sz="1100" dirty="0" smtClean="0">
                          <a:latin typeface="Times New Roman" pitchFamily="18" charset="0"/>
                          <a:cs typeface="Times New Roman" pitchFamily="18" charset="0"/>
                        </a:rPr>
                        <a:t>Enhancing Mobile Enterprise Security: A </a:t>
                      </a:r>
                      <a:r>
                        <a:rPr lang="en-US" sz="1100" dirty="0" err="1" smtClean="0">
                          <a:latin typeface="Times New Roman" pitchFamily="18" charset="0"/>
                          <a:cs typeface="Times New Roman" pitchFamily="18" charset="0"/>
                        </a:rPr>
                        <a:t>Blockchain</a:t>
                      </a:r>
                      <a:r>
                        <a:rPr lang="en-US" sz="1100" dirty="0" smtClean="0">
                          <a:latin typeface="Times New Roman" pitchFamily="18" charset="0"/>
                          <a:cs typeface="Times New Roman" pitchFamily="18" charset="0"/>
                        </a:rPr>
                        <a:t> and Agent Paradigm-Based Approach for Continuous Protection and Rapid Adaptation (2024)</a:t>
                      </a:r>
                      <a:endParaRPr lang="en-US" sz="1100" dirty="0">
                        <a:latin typeface="Times New Roman" pitchFamily="18" charset="0"/>
                        <a:cs typeface="Times New Roman" pitchFamily="18" charset="0"/>
                      </a:endParaRPr>
                    </a:p>
                  </a:txBody>
                  <a:tcPr/>
                </a:tc>
                <a:tc>
                  <a:txBody>
                    <a:bodyPr/>
                    <a:lstStyle/>
                    <a:p>
                      <a:r>
                        <a:rPr lang="en-US" sz="1100" dirty="0" smtClean="0">
                          <a:latin typeface="Times New Roman" pitchFamily="18" charset="0"/>
                          <a:cs typeface="Times New Roman" pitchFamily="18" charset="0"/>
                        </a:rPr>
                        <a:t>Proposes the MAM+ architecture, which combines </a:t>
                      </a:r>
                      <a:r>
                        <a:rPr lang="en-US" sz="1100" dirty="0" err="1" smtClean="0">
                          <a:latin typeface="Times New Roman" pitchFamily="18" charset="0"/>
                          <a:cs typeface="Times New Roman" pitchFamily="18" charset="0"/>
                        </a:rPr>
                        <a:t>blockchain</a:t>
                      </a:r>
                      <a:r>
                        <a:rPr lang="en-US" sz="1100" dirty="0" smtClean="0">
                          <a:latin typeface="Times New Roman" pitchFamily="18" charset="0"/>
                          <a:cs typeface="Times New Roman" pitchFamily="18" charset="0"/>
                        </a:rPr>
                        <a:t> and mobile agents to continuously detect, analyze, and respond to security threats in enterprise environments.</a:t>
                      </a:r>
                      <a:endParaRPr lang="en-US" sz="1100" dirty="0">
                        <a:latin typeface="Times New Roman" pitchFamily="18" charset="0"/>
                        <a:cs typeface="Times New Roman" pitchFamily="18" charset="0"/>
                      </a:endParaRPr>
                    </a:p>
                  </a:txBody>
                  <a:tcPr/>
                </a:tc>
                <a:tc>
                  <a:txBody>
                    <a:bodyPr/>
                    <a:lstStyle/>
                    <a:p>
                      <a:r>
                        <a:rPr lang="en-US" sz="1100" b="1" dirty="0" smtClean="0">
                          <a:latin typeface="Times New Roman" pitchFamily="18" charset="0"/>
                          <a:cs typeface="Times New Roman" pitchFamily="18" charset="0"/>
                        </a:rPr>
                        <a:t>Drawbacks:</a:t>
                      </a:r>
                      <a:r>
                        <a:rPr lang="en-US" sz="1100" dirty="0" smtClean="0">
                          <a:latin typeface="Times New Roman" pitchFamily="18" charset="0"/>
                          <a:cs typeface="Times New Roman" pitchFamily="18" charset="0"/>
                        </a:rPr>
                        <a:t> Relies on signature-based attack detection, assumes secure agent migration, </a:t>
                      </a:r>
                      <a:r>
                        <a:rPr lang="en-US" sz="1100" dirty="0" err="1" smtClean="0">
                          <a:latin typeface="Times New Roman" pitchFamily="18" charset="0"/>
                          <a:cs typeface="Times New Roman" pitchFamily="18" charset="0"/>
                        </a:rPr>
                        <a:t>blockchain</a:t>
                      </a:r>
                      <a:r>
                        <a:rPr lang="en-US" sz="1100" dirty="0" smtClean="0">
                          <a:latin typeface="Times New Roman" pitchFamily="18" charset="0"/>
                          <a:cs typeface="Times New Roman" pitchFamily="18" charset="0"/>
                        </a:rPr>
                        <a:t> increases architectural complexity, and some attacks still require human intervention. </a:t>
                      </a:r>
                      <a:r>
                        <a:rPr lang="en-US" sz="1100" b="1" dirty="0" smtClean="0">
                          <a:latin typeface="Times New Roman" pitchFamily="18" charset="0"/>
                          <a:cs typeface="Times New Roman" pitchFamily="18" charset="0"/>
                        </a:rPr>
                        <a:t>Accuracy:</a:t>
                      </a:r>
                      <a:r>
                        <a:rPr lang="en-US" sz="1100" dirty="0" smtClean="0">
                          <a:latin typeface="Times New Roman" pitchFamily="18" charset="0"/>
                          <a:cs typeface="Times New Roman" pitchFamily="18" charset="0"/>
                        </a:rPr>
                        <a:t> Not reported.</a:t>
                      </a:r>
                      <a:endParaRPr lang="en-US" sz="1100" dirty="0">
                        <a:latin typeface="Times New Roman" pitchFamily="18" charset="0"/>
                        <a:cs typeface="Times New Roman" pitchFamily="18" charset="0"/>
                      </a:endParaRPr>
                    </a:p>
                  </a:txBody>
                  <a:tcPr/>
                </a:tc>
                <a:tc>
                  <a:txBody>
                    <a:bodyPr/>
                    <a:lstStyle/>
                    <a:p>
                      <a:r>
                        <a:rPr lang="en-US" sz="1100" dirty="0" smtClean="0">
                          <a:latin typeface="Times New Roman" pitchFamily="18" charset="0"/>
                          <a:cs typeface="Times New Roman" pitchFamily="18" charset="0"/>
                        </a:rPr>
                        <a:t>Highly relevant because it demonstrates how autonomous agents can cooperate, communicate, and distribute responsibilities while using </a:t>
                      </a:r>
                      <a:r>
                        <a:rPr lang="en-US" sz="1100" dirty="0" err="1" smtClean="0">
                          <a:latin typeface="Times New Roman" pitchFamily="18" charset="0"/>
                          <a:cs typeface="Times New Roman" pitchFamily="18" charset="0"/>
                        </a:rPr>
                        <a:t>blockchain</a:t>
                      </a:r>
                      <a:r>
                        <a:rPr lang="en-US" sz="1100" dirty="0" smtClean="0">
                          <a:latin typeface="Times New Roman" pitchFamily="18" charset="0"/>
                          <a:cs typeface="Times New Roman" pitchFamily="18" charset="0"/>
                        </a:rPr>
                        <a:t> to improve enterprise security.</a:t>
                      </a:r>
                      <a:endParaRPr lang="en-US" sz="11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28601"/>
            <a:ext cx="8458200" cy="457200"/>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IMPLEMENTATION</a:t>
            </a:r>
            <a:endParaRPr lang="en-US" sz="2400" b="1" dirty="0">
              <a:latin typeface="Times New Roman" pitchFamily="18" charset="0"/>
              <a:cs typeface="Times New Roman" pitchFamily="18" charset="0"/>
            </a:endParaRPr>
          </a:p>
        </p:txBody>
      </p:sp>
      <p:sp>
        <p:nvSpPr>
          <p:cNvPr id="3" name="TextBox 2"/>
          <p:cNvSpPr txBox="1"/>
          <p:nvPr/>
        </p:nvSpPr>
        <p:spPr>
          <a:xfrm>
            <a:off x="304800" y="685800"/>
            <a:ext cx="8534400" cy="369332"/>
          </a:xfrm>
          <a:prstGeom prst="rect">
            <a:avLst/>
          </a:prstGeom>
          <a:noFill/>
        </p:spPr>
        <p:txBody>
          <a:bodyPr wrap="square" rtlCol="0">
            <a:spAutoFit/>
          </a:bodyPr>
          <a:lstStyle/>
          <a:p>
            <a:r>
              <a:rPr lang="en-US" b="1" dirty="0" smtClean="0">
                <a:latin typeface="Times New Roman" pitchFamily="18" charset="0"/>
                <a:cs typeface="Times New Roman" pitchFamily="18" charset="0"/>
              </a:rPr>
              <a:t>SYSTEM ARCHITECTURE</a:t>
            </a:r>
            <a:endParaRPr lang="en-US" b="1" dirty="0">
              <a:latin typeface="Times New Roman" pitchFamily="18" charset="0"/>
              <a:cs typeface="Times New Roman" pitchFamily="18" charset="0"/>
            </a:endParaRPr>
          </a:p>
        </p:txBody>
      </p:sp>
      <p:sp>
        <p:nvSpPr>
          <p:cNvPr id="4" name="TextBox 3"/>
          <p:cNvSpPr txBox="1"/>
          <p:nvPr/>
        </p:nvSpPr>
        <p:spPr>
          <a:xfrm>
            <a:off x="381000" y="1219200"/>
            <a:ext cx="8305800" cy="2585323"/>
          </a:xfrm>
          <a:prstGeom prst="rect">
            <a:avLst/>
          </a:prstGeom>
          <a:noFill/>
        </p:spPr>
        <p:txBody>
          <a:bodyPr wrap="square" rtlCol="0">
            <a:spAutoFit/>
          </a:bodyPr>
          <a:lstStyle/>
          <a:p>
            <a:r>
              <a:rPr lang="en-US" dirty="0" smtClean="0">
                <a:latin typeface="Times New Roman" pitchFamily="18" charset="0"/>
                <a:cs typeface="Times New Roman" pitchFamily="18" charset="0"/>
              </a:rPr>
              <a:t>The system consists of a React.js frontend connected to a FastAPI backend. A workflow orchestrator receives user requests and coordinates specialized AI agents such as RAG, Security, Analytics, Workflow, and Validation agents. These agents access the enterprise database and vector database to retrieve and process information. LLM, RAG, XAI, and RBAC ensure accurate, secure, and explainable responses, with Human-in-the-Loop validation for critical tasks.</a:t>
            </a:r>
          </a:p>
          <a:p>
            <a:r>
              <a:rPr lang="en-US" dirty="0" smtClean="0">
                <a:latin typeface="Times New Roman" pitchFamily="18" charset="0"/>
                <a:cs typeface="Times New Roman" pitchFamily="18" charset="0"/>
              </a:rPr>
              <a:t>Flow:</a:t>
            </a:r>
            <a:br>
              <a:rPr lang="en-US" dirty="0" smtClean="0">
                <a:latin typeface="Times New Roman" pitchFamily="18" charset="0"/>
                <a:cs typeface="Times New Roman" pitchFamily="18" charset="0"/>
              </a:rPr>
            </a:br>
            <a:r>
              <a:rPr lang="en-US" b="1" dirty="0" smtClean="0">
                <a:latin typeface="Times New Roman" pitchFamily="18" charset="0"/>
                <a:cs typeface="Times New Roman" pitchFamily="18" charset="0"/>
              </a:rPr>
              <a:t>User → React.js → FastAPI → Orchestrator → AI Agents → Databases → LLM/RAG/XAI → Final Response</a:t>
            </a:r>
            <a:endParaRPr lang="en-US"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28601"/>
            <a:ext cx="8458200" cy="457200"/>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IMPLEMENTATION</a:t>
            </a:r>
            <a:endParaRPr lang="en-US" sz="2400" b="1" dirty="0">
              <a:latin typeface="Times New Roman" pitchFamily="18" charset="0"/>
              <a:cs typeface="Times New Roman" pitchFamily="18" charset="0"/>
            </a:endParaRPr>
          </a:p>
        </p:txBody>
      </p:sp>
      <p:sp>
        <p:nvSpPr>
          <p:cNvPr id="3" name="TextBox 2"/>
          <p:cNvSpPr txBox="1"/>
          <p:nvPr/>
        </p:nvSpPr>
        <p:spPr>
          <a:xfrm>
            <a:off x="304800" y="685800"/>
            <a:ext cx="8534400" cy="369332"/>
          </a:xfrm>
          <a:prstGeom prst="rect">
            <a:avLst/>
          </a:prstGeom>
          <a:noFill/>
        </p:spPr>
        <p:txBody>
          <a:bodyPr wrap="square" rtlCol="0">
            <a:spAutoFit/>
          </a:bodyPr>
          <a:lstStyle/>
          <a:p>
            <a:r>
              <a:rPr lang="en-US" b="1" dirty="0" smtClean="0">
                <a:latin typeface="Times New Roman" pitchFamily="18" charset="0"/>
                <a:cs typeface="Times New Roman" pitchFamily="18" charset="0"/>
              </a:rPr>
              <a:t>SYSTEM ARCHITECTURE</a:t>
            </a:r>
            <a:endParaRPr lang="en-US" b="1" dirty="0">
              <a:latin typeface="Times New Roman" pitchFamily="18" charset="0"/>
              <a:cs typeface="Times New Roman" pitchFamily="18" charset="0"/>
            </a:endParaRPr>
          </a:p>
        </p:txBody>
      </p:sp>
      <p:pic>
        <p:nvPicPr>
          <p:cNvPr id="31746" name="Picture 2" descr="C:\Users\Admin\Downloads\ChatGPT Image Aug 17, 2026, 11_43_52 AM.png"/>
          <p:cNvPicPr>
            <a:picLocks noChangeAspect="1" noChangeArrowheads="1"/>
          </p:cNvPicPr>
          <p:nvPr/>
        </p:nvPicPr>
        <p:blipFill>
          <a:blip r:embed="rId2"/>
          <a:srcRect/>
          <a:stretch>
            <a:fillRect/>
          </a:stretch>
        </p:blipFill>
        <p:spPr bwMode="auto">
          <a:xfrm>
            <a:off x="381000" y="1143000"/>
            <a:ext cx="8458200" cy="5588000"/>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457200"/>
            <a:ext cx="73152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EXISTING SYSTEM AND DISADVANTAGES</a:t>
            </a:r>
            <a:endParaRPr lang="en-US" sz="2400" b="1" dirty="0">
              <a:latin typeface="Times New Roman" pitchFamily="18" charset="0"/>
              <a:cs typeface="Times New Roman" pitchFamily="18" charset="0"/>
            </a:endParaRPr>
          </a:p>
        </p:txBody>
      </p:sp>
      <p:sp>
        <p:nvSpPr>
          <p:cNvPr id="4" name="TextBox 3"/>
          <p:cNvSpPr txBox="1"/>
          <p:nvPr/>
        </p:nvSpPr>
        <p:spPr>
          <a:xfrm>
            <a:off x="457200" y="990600"/>
            <a:ext cx="8382000" cy="4893647"/>
          </a:xfrm>
          <a:prstGeom prst="rect">
            <a:avLst/>
          </a:prstGeom>
          <a:noFill/>
        </p:spPr>
        <p:txBody>
          <a:bodyPr wrap="square" rtlCol="0">
            <a:spAutoFit/>
          </a:bodyPr>
          <a:lstStyle/>
          <a:p>
            <a:pPr algn="just"/>
            <a:r>
              <a:rPr lang="en-US" dirty="0" smtClean="0">
                <a:latin typeface="Times New Roman" pitchFamily="18" charset="0"/>
                <a:cs typeface="Times New Roman" pitchFamily="18" charset="0"/>
              </a:rPr>
              <a:t>Most organizations use enterprise applications such as ERP, CRM, HRMS, Microsoft Copilot, Google Gemini for Workspace, </a:t>
            </a:r>
            <a:r>
              <a:rPr lang="en-US" dirty="0" err="1" smtClean="0">
                <a:latin typeface="Times New Roman" pitchFamily="18" charset="0"/>
                <a:cs typeface="Times New Roman" pitchFamily="18" charset="0"/>
              </a:rPr>
              <a:t>ServiceNow</a:t>
            </a:r>
            <a:r>
              <a:rPr lang="en-US" dirty="0" smtClean="0">
                <a:latin typeface="Times New Roman" pitchFamily="18" charset="0"/>
                <a:cs typeface="Times New Roman" pitchFamily="18" charset="0"/>
              </a:rPr>
              <a:t> AI, </a:t>
            </a:r>
            <a:r>
              <a:rPr lang="en-US" dirty="0" err="1" smtClean="0">
                <a:latin typeface="Times New Roman" pitchFamily="18" charset="0"/>
                <a:cs typeface="Times New Roman" pitchFamily="18" charset="0"/>
              </a:rPr>
              <a:t>Jira</a:t>
            </a:r>
            <a:r>
              <a:rPr lang="en-US" dirty="0" smtClean="0">
                <a:latin typeface="Times New Roman" pitchFamily="18" charset="0"/>
                <a:cs typeface="Times New Roman" pitchFamily="18" charset="0"/>
              </a:rPr>
              <a:t> Automation, and traditional AI </a:t>
            </a:r>
            <a:r>
              <a:rPr lang="en-US" dirty="0" err="1" smtClean="0">
                <a:latin typeface="Times New Roman" pitchFamily="18" charset="0"/>
                <a:cs typeface="Times New Roman" pitchFamily="18" charset="0"/>
              </a:rPr>
              <a:t>chatbots</a:t>
            </a:r>
            <a:r>
              <a:rPr lang="en-US" dirty="0" smtClean="0">
                <a:latin typeface="Times New Roman" pitchFamily="18" charset="0"/>
                <a:cs typeface="Times New Roman" pitchFamily="18" charset="0"/>
              </a:rPr>
              <a:t> to automate routine business operations. These systems support tasks such as information retrieval, report generation, query handling, and workflow management. However, they operate independently and require manual coordination between different applications and departments. Most existing AI assistants also rely on a single-agent architecture, which limits their ability to manage complex enterprise workflows. </a:t>
            </a:r>
          </a:p>
          <a:p>
            <a:pPr algn="just"/>
            <a:endParaRPr lang="en-US" dirty="0" smtClean="0">
              <a:latin typeface="Times New Roman" pitchFamily="18" charset="0"/>
              <a:cs typeface="Times New Roman" pitchFamily="18" charset="0"/>
            </a:endParaRPr>
          </a:p>
          <a:p>
            <a:pPr algn="just"/>
            <a:r>
              <a:rPr lang="en-US" sz="2400" b="1" dirty="0" smtClean="0">
                <a:latin typeface="Times New Roman" pitchFamily="18" charset="0"/>
                <a:cs typeface="Times New Roman" pitchFamily="18" charset="0"/>
              </a:rPr>
              <a:t>Disadvantages of the Existing System:</a:t>
            </a:r>
          </a:p>
          <a:p>
            <a:pPr algn="just"/>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Single-agent architecture limits collaboration and task management. </a:t>
            </a:r>
          </a:p>
          <a:p>
            <a:pPr algn="just">
              <a:buFont typeface="Arial" pitchFamily="34" charset="0"/>
              <a:buChar char="•"/>
            </a:pPr>
            <a:r>
              <a:rPr lang="en-US" dirty="0" smtClean="0">
                <a:latin typeface="Times New Roman" pitchFamily="18" charset="0"/>
                <a:cs typeface="Times New Roman" pitchFamily="18" charset="0"/>
              </a:rPr>
              <a:t>Unable to perform autonomous multi-step workflows, resulting in increased manual effort. </a:t>
            </a:r>
          </a:p>
          <a:p>
            <a:pPr algn="just">
              <a:buFont typeface="Arial" pitchFamily="34" charset="0"/>
              <a:buChar char="•"/>
            </a:pPr>
            <a:r>
              <a:rPr lang="en-US" dirty="0" smtClean="0">
                <a:latin typeface="Times New Roman" pitchFamily="18" charset="0"/>
                <a:cs typeface="Times New Roman" pitchFamily="18" charset="0"/>
              </a:rPr>
              <a:t>High AI hallucination rates may generate inaccurate information. </a:t>
            </a:r>
          </a:p>
          <a:p>
            <a:pPr algn="just">
              <a:buFont typeface="Arial" pitchFamily="34" charset="0"/>
              <a:buChar char="•"/>
            </a:pPr>
            <a:r>
              <a:rPr lang="en-US" dirty="0" smtClean="0">
                <a:latin typeface="Times New Roman" pitchFamily="18" charset="0"/>
                <a:cs typeface="Times New Roman" pitchFamily="18" charset="0"/>
              </a:rPr>
              <a:t>Weak access control increases the risk of unauthorized access to sensitive data. </a:t>
            </a:r>
          </a:p>
          <a:p>
            <a:pPr algn="just">
              <a:buFont typeface="Arial" pitchFamily="34" charset="0"/>
              <a:buChar char="•"/>
            </a:pPr>
            <a:r>
              <a:rPr lang="en-US" dirty="0" smtClean="0">
                <a:latin typeface="Times New Roman" pitchFamily="18" charset="0"/>
                <a:cs typeface="Times New Roman" pitchFamily="18" charset="0"/>
              </a:rPr>
              <a:t>Limited </a:t>
            </a:r>
            <a:r>
              <a:rPr lang="en-US" dirty="0" err="1" smtClean="0">
                <a:latin typeface="Times New Roman" pitchFamily="18" charset="0"/>
                <a:cs typeface="Times New Roman" pitchFamily="18" charset="0"/>
              </a:rPr>
              <a:t>explainability</a:t>
            </a:r>
            <a:r>
              <a:rPr lang="en-US" dirty="0" smtClean="0">
                <a:latin typeface="Times New Roman" pitchFamily="18" charset="0"/>
                <a:cs typeface="Times New Roman" pitchFamily="18" charset="0"/>
              </a:rPr>
              <a:t> and </a:t>
            </a:r>
            <a:r>
              <a:rPr lang="en-US" dirty="0" err="1" smtClean="0">
                <a:latin typeface="Times New Roman" pitchFamily="18" charset="0"/>
                <a:cs typeface="Times New Roman" pitchFamily="18" charset="0"/>
              </a:rPr>
              <a:t>auditability</a:t>
            </a:r>
            <a:r>
              <a:rPr lang="en-US" dirty="0" smtClean="0">
                <a:latin typeface="Times New Roman" pitchFamily="18" charset="0"/>
                <a:cs typeface="Times New Roman" pitchFamily="18" charset="0"/>
              </a:rPr>
              <a:t> reduce transparency in decision-making. </a:t>
            </a:r>
          </a:p>
          <a:p>
            <a:pPr algn="just">
              <a:buFont typeface="Arial" pitchFamily="34" charset="0"/>
              <a:buChar char="•"/>
            </a:pPr>
            <a:r>
              <a:rPr lang="en-US" dirty="0" smtClean="0">
                <a:latin typeface="Times New Roman" pitchFamily="18" charset="0"/>
                <a:cs typeface="Times New Roman" pitchFamily="18" charset="0"/>
              </a:rPr>
              <a:t>Poor scalability affects performance in complex enterprise environments.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457200"/>
            <a:ext cx="73152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EXISTING SYSTEM AND DISADVANTAGES</a:t>
            </a:r>
            <a:endParaRPr lang="en-US" sz="2400" b="1" dirty="0">
              <a:latin typeface="Times New Roman" pitchFamily="18" charset="0"/>
              <a:cs typeface="Times New Roman" pitchFamily="18" charset="0"/>
            </a:endParaRPr>
          </a:p>
        </p:txBody>
      </p:sp>
      <p:sp>
        <p:nvSpPr>
          <p:cNvPr id="4" name="TextBox 3"/>
          <p:cNvSpPr txBox="1"/>
          <p:nvPr/>
        </p:nvSpPr>
        <p:spPr>
          <a:xfrm>
            <a:off x="457200" y="990600"/>
            <a:ext cx="8382000" cy="4893647"/>
          </a:xfrm>
          <a:prstGeom prst="rect">
            <a:avLst/>
          </a:prstGeom>
          <a:noFill/>
        </p:spPr>
        <p:txBody>
          <a:bodyPr wrap="square" rtlCol="0">
            <a:spAutoFit/>
          </a:bodyPr>
          <a:lstStyle/>
          <a:p>
            <a:pPr algn="just"/>
            <a:r>
              <a:rPr lang="en-US" dirty="0" smtClean="0">
                <a:latin typeface="Times New Roman" pitchFamily="18" charset="0"/>
                <a:cs typeface="Times New Roman" pitchFamily="18" charset="0"/>
              </a:rPr>
              <a:t>Most organizations use enterprise applications such as ERP, CRM, HRMS, Microsoft Copilot, Google Gemini for Workspace, </a:t>
            </a:r>
            <a:r>
              <a:rPr lang="en-US" dirty="0" err="1" smtClean="0">
                <a:latin typeface="Times New Roman" pitchFamily="18" charset="0"/>
                <a:cs typeface="Times New Roman" pitchFamily="18" charset="0"/>
              </a:rPr>
              <a:t>ServiceNow</a:t>
            </a:r>
            <a:r>
              <a:rPr lang="en-US" dirty="0" smtClean="0">
                <a:latin typeface="Times New Roman" pitchFamily="18" charset="0"/>
                <a:cs typeface="Times New Roman" pitchFamily="18" charset="0"/>
              </a:rPr>
              <a:t> AI, </a:t>
            </a:r>
            <a:r>
              <a:rPr lang="en-US" dirty="0" err="1" smtClean="0">
                <a:latin typeface="Times New Roman" pitchFamily="18" charset="0"/>
                <a:cs typeface="Times New Roman" pitchFamily="18" charset="0"/>
              </a:rPr>
              <a:t>Jira</a:t>
            </a:r>
            <a:r>
              <a:rPr lang="en-US" dirty="0" smtClean="0">
                <a:latin typeface="Times New Roman" pitchFamily="18" charset="0"/>
                <a:cs typeface="Times New Roman" pitchFamily="18" charset="0"/>
              </a:rPr>
              <a:t> Automation, and traditional AI </a:t>
            </a:r>
            <a:r>
              <a:rPr lang="en-US" dirty="0" err="1" smtClean="0">
                <a:latin typeface="Times New Roman" pitchFamily="18" charset="0"/>
                <a:cs typeface="Times New Roman" pitchFamily="18" charset="0"/>
              </a:rPr>
              <a:t>chatbots</a:t>
            </a:r>
            <a:r>
              <a:rPr lang="en-US" dirty="0" smtClean="0">
                <a:latin typeface="Times New Roman" pitchFamily="18" charset="0"/>
                <a:cs typeface="Times New Roman" pitchFamily="18" charset="0"/>
              </a:rPr>
              <a:t> to automate routine business operations. These systems support tasks such as information retrieval, report generation, query handling, and workflow management. However, they operate independently and require manual coordination between different applications and departments. Most existing AI assistants also rely on a single-agent architecture, which limits their ability to manage complex enterprise workflows. </a:t>
            </a:r>
          </a:p>
          <a:p>
            <a:pPr algn="just"/>
            <a:endParaRPr lang="en-US" dirty="0" smtClean="0">
              <a:latin typeface="Times New Roman" pitchFamily="18" charset="0"/>
              <a:cs typeface="Times New Roman" pitchFamily="18" charset="0"/>
            </a:endParaRPr>
          </a:p>
          <a:p>
            <a:pPr algn="just"/>
            <a:r>
              <a:rPr lang="en-US" sz="2400" b="1" dirty="0" smtClean="0">
                <a:latin typeface="Times New Roman" pitchFamily="18" charset="0"/>
                <a:cs typeface="Times New Roman" pitchFamily="18" charset="0"/>
              </a:rPr>
              <a:t>Disadvantages of the Existing System:</a:t>
            </a:r>
          </a:p>
          <a:p>
            <a:pPr algn="just"/>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Single-agent architecture limits collaboration and task management. </a:t>
            </a:r>
          </a:p>
          <a:p>
            <a:pPr algn="just">
              <a:buFont typeface="Arial" pitchFamily="34" charset="0"/>
              <a:buChar char="•"/>
            </a:pPr>
            <a:r>
              <a:rPr lang="en-US" dirty="0" smtClean="0">
                <a:latin typeface="Times New Roman" pitchFamily="18" charset="0"/>
                <a:cs typeface="Times New Roman" pitchFamily="18" charset="0"/>
              </a:rPr>
              <a:t>Unable to perform autonomous multi-step workflows, resulting in increased manual effort. </a:t>
            </a:r>
          </a:p>
          <a:p>
            <a:pPr algn="just">
              <a:buFont typeface="Arial" pitchFamily="34" charset="0"/>
              <a:buChar char="•"/>
            </a:pPr>
            <a:r>
              <a:rPr lang="en-US" dirty="0" smtClean="0">
                <a:latin typeface="Times New Roman" pitchFamily="18" charset="0"/>
                <a:cs typeface="Times New Roman" pitchFamily="18" charset="0"/>
              </a:rPr>
              <a:t>High AI hallucination rates may generate inaccurate information. </a:t>
            </a:r>
          </a:p>
          <a:p>
            <a:pPr algn="just">
              <a:buFont typeface="Arial" pitchFamily="34" charset="0"/>
              <a:buChar char="•"/>
            </a:pPr>
            <a:r>
              <a:rPr lang="en-US" dirty="0" smtClean="0">
                <a:latin typeface="Times New Roman" pitchFamily="18" charset="0"/>
                <a:cs typeface="Times New Roman" pitchFamily="18" charset="0"/>
              </a:rPr>
              <a:t>Weak access control increases the risk of unauthorized access to sensitive data. </a:t>
            </a:r>
          </a:p>
          <a:p>
            <a:pPr algn="just">
              <a:buFont typeface="Arial" pitchFamily="34" charset="0"/>
              <a:buChar char="•"/>
            </a:pPr>
            <a:r>
              <a:rPr lang="en-US" dirty="0" smtClean="0">
                <a:latin typeface="Times New Roman" pitchFamily="18" charset="0"/>
                <a:cs typeface="Times New Roman" pitchFamily="18" charset="0"/>
              </a:rPr>
              <a:t>Limited </a:t>
            </a:r>
            <a:r>
              <a:rPr lang="en-US" dirty="0" err="1" smtClean="0">
                <a:latin typeface="Times New Roman" pitchFamily="18" charset="0"/>
                <a:cs typeface="Times New Roman" pitchFamily="18" charset="0"/>
              </a:rPr>
              <a:t>explainability</a:t>
            </a:r>
            <a:r>
              <a:rPr lang="en-US" dirty="0" smtClean="0">
                <a:latin typeface="Times New Roman" pitchFamily="18" charset="0"/>
                <a:cs typeface="Times New Roman" pitchFamily="18" charset="0"/>
              </a:rPr>
              <a:t> and </a:t>
            </a:r>
            <a:r>
              <a:rPr lang="en-US" dirty="0" err="1" smtClean="0">
                <a:latin typeface="Times New Roman" pitchFamily="18" charset="0"/>
                <a:cs typeface="Times New Roman" pitchFamily="18" charset="0"/>
              </a:rPr>
              <a:t>auditability</a:t>
            </a:r>
            <a:r>
              <a:rPr lang="en-US" dirty="0" smtClean="0">
                <a:latin typeface="Times New Roman" pitchFamily="18" charset="0"/>
                <a:cs typeface="Times New Roman" pitchFamily="18" charset="0"/>
              </a:rPr>
              <a:t> reduce transparency in decision-making. </a:t>
            </a:r>
          </a:p>
          <a:p>
            <a:pPr algn="just">
              <a:buFont typeface="Arial" pitchFamily="34" charset="0"/>
              <a:buChar char="•"/>
            </a:pPr>
            <a:r>
              <a:rPr lang="en-US" dirty="0" smtClean="0">
                <a:latin typeface="Times New Roman" pitchFamily="18" charset="0"/>
                <a:cs typeface="Times New Roman" pitchFamily="18" charset="0"/>
              </a:rPr>
              <a:t>Poor scalability affects performance in complex enterprise environments.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457200"/>
            <a:ext cx="73152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PROPOSED SYSTEM AND ADVANTAGES</a:t>
            </a:r>
            <a:endParaRPr lang="en-US" sz="2400" b="1" dirty="0">
              <a:latin typeface="Times New Roman" pitchFamily="18" charset="0"/>
              <a:cs typeface="Times New Roman" pitchFamily="18" charset="0"/>
            </a:endParaRPr>
          </a:p>
        </p:txBody>
      </p:sp>
      <p:sp>
        <p:nvSpPr>
          <p:cNvPr id="4" name="TextBox 3"/>
          <p:cNvSpPr txBox="1"/>
          <p:nvPr/>
        </p:nvSpPr>
        <p:spPr>
          <a:xfrm>
            <a:off x="457200" y="990600"/>
            <a:ext cx="8382000" cy="5447645"/>
          </a:xfrm>
          <a:prstGeom prst="rect">
            <a:avLst/>
          </a:prstGeom>
          <a:noFill/>
        </p:spPr>
        <p:txBody>
          <a:bodyPr wrap="square" rtlCol="0">
            <a:spAutoFit/>
          </a:bodyPr>
          <a:lstStyle/>
          <a:p>
            <a:pPr algn="just"/>
            <a:r>
              <a:rPr lang="en-US" dirty="0" smtClean="0">
                <a:latin typeface="Times New Roman" pitchFamily="18" charset="0"/>
                <a:cs typeface="Times New Roman" pitchFamily="18" charset="0"/>
              </a:rPr>
              <a:t>The proposed Secure and Autonomous Multi-Agent Enterprise Assistant introduces a framework in which multiple specialized AI agents work together to automate enterprise workflows. The system decomposes complex user requests into smaller subtasks and coordinates agents for information retrieval, analytics, workflow automation, and security verification. It integrates Retrieval-Augmented Generation (RAG), Zero-Trust Security, and Role-Based Access Control (RBAC) to ensure accurate responses and secure access to enterprise data. In addition, Explainable AI (XAI) and Human-in-the-Loop validation improve transparency and provide approval for critical operations. </a:t>
            </a:r>
          </a:p>
          <a:p>
            <a:pPr algn="just"/>
            <a:endParaRPr lang="en-US" dirty="0" smtClean="0">
              <a:latin typeface="Times New Roman" pitchFamily="18" charset="0"/>
              <a:cs typeface="Times New Roman" pitchFamily="18" charset="0"/>
            </a:endParaRPr>
          </a:p>
          <a:p>
            <a:pPr algn="just"/>
            <a:r>
              <a:rPr lang="en-US" sz="2400" b="1" dirty="0" smtClean="0">
                <a:latin typeface="Times New Roman" pitchFamily="18" charset="0"/>
                <a:cs typeface="Times New Roman" pitchFamily="18" charset="0"/>
              </a:rPr>
              <a:t>Advantages of the Proposed System:</a:t>
            </a:r>
          </a:p>
          <a:p>
            <a:pPr algn="just"/>
            <a:endParaRPr lang="en-US" dirty="0" smtClean="0">
              <a:latin typeface="Times New Roman" pitchFamily="18" charset="0"/>
              <a:cs typeface="Times New Roman" pitchFamily="18" charset="0"/>
            </a:endParaRPr>
          </a:p>
          <a:p>
            <a:pPr algn="just">
              <a:buFont typeface="Arial" pitchFamily="34" charset="0"/>
              <a:buChar char="•"/>
            </a:pPr>
            <a:r>
              <a:rPr lang="en-US" dirty="0" smtClean="0">
                <a:latin typeface="Times New Roman" pitchFamily="18" charset="0"/>
                <a:cs typeface="Times New Roman" pitchFamily="18" charset="0"/>
              </a:rPr>
              <a:t>Intelligent multi-agent collaboration improves coordination between different AI agents. </a:t>
            </a:r>
          </a:p>
          <a:p>
            <a:pPr algn="just">
              <a:buFont typeface="Arial" pitchFamily="34" charset="0"/>
              <a:buChar char="•"/>
            </a:pPr>
            <a:r>
              <a:rPr lang="en-US" dirty="0" smtClean="0">
                <a:latin typeface="Times New Roman" pitchFamily="18" charset="0"/>
                <a:cs typeface="Times New Roman" pitchFamily="18" charset="0"/>
              </a:rPr>
              <a:t>Dynamic task planning and workflow execution reduce manual intervention. </a:t>
            </a:r>
          </a:p>
          <a:p>
            <a:pPr algn="just">
              <a:buFont typeface="Arial" pitchFamily="34" charset="0"/>
              <a:buChar char="•"/>
            </a:pPr>
            <a:r>
              <a:rPr lang="en-US" dirty="0" smtClean="0">
                <a:latin typeface="Times New Roman" pitchFamily="18" charset="0"/>
                <a:cs typeface="Times New Roman" pitchFamily="18" charset="0"/>
              </a:rPr>
              <a:t>Reduced AI hallucinations through RAG improve response accuracy. </a:t>
            </a:r>
          </a:p>
          <a:p>
            <a:pPr algn="just">
              <a:buFont typeface="Arial" pitchFamily="34" charset="0"/>
              <a:buChar char="•"/>
            </a:pPr>
            <a:r>
              <a:rPr lang="en-US" dirty="0" smtClean="0">
                <a:latin typeface="Times New Roman" pitchFamily="18" charset="0"/>
                <a:cs typeface="Times New Roman" pitchFamily="18" charset="0"/>
              </a:rPr>
              <a:t>Strong Zero-Trust Security protects sensitive enterprise data. </a:t>
            </a:r>
          </a:p>
          <a:p>
            <a:pPr algn="just">
              <a:buFont typeface="Arial" pitchFamily="34" charset="0"/>
              <a:buChar char="•"/>
            </a:pPr>
            <a:r>
              <a:rPr lang="en-US" dirty="0" smtClean="0">
                <a:latin typeface="Times New Roman" pitchFamily="18" charset="0"/>
                <a:cs typeface="Times New Roman" pitchFamily="18" charset="0"/>
              </a:rPr>
              <a:t>Explainable AI with confidence scores increases transparency and user trust. </a:t>
            </a:r>
          </a:p>
          <a:p>
            <a:pPr algn="just">
              <a:buFont typeface="Arial" pitchFamily="34" charset="0"/>
              <a:buChar char="•"/>
            </a:pPr>
            <a:r>
              <a:rPr lang="en-US" dirty="0" smtClean="0">
                <a:latin typeface="Times New Roman" pitchFamily="18" charset="0"/>
                <a:cs typeface="Times New Roman" pitchFamily="18" charset="0"/>
              </a:rPr>
              <a:t>Human-in-the-Loop validation improves the reliability of critical operations. </a:t>
            </a:r>
          </a:p>
          <a:p>
            <a:pPr algn="just">
              <a:buFont typeface="Arial" pitchFamily="34" charset="0"/>
              <a:buChar char="•"/>
            </a:pPr>
            <a:r>
              <a:rPr lang="en-US" dirty="0" smtClean="0">
                <a:latin typeface="Times New Roman" pitchFamily="18" charset="0"/>
                <a:cs typeface="Times New Roman" pitchFamily="18" charset="0"/>
              </a:rPr>
              <a:t>Scalable enterprise architecture supports complex business environments. </a:t>
            </a:r>
          </a:p>
          <a:p>
            <a:pPr algn="just">
              <a:buFont typeface="Arial" pitchFamily="34" charset="0"/>
              <a:buChar char="•"/>
            </a:pPr>
            <a:r>
              <a:rPr lang="en-US" dirty="0" smtClean="0">
                <a:latin typeface="Times New Roman" pitchFamily="18" charset="0"/>
                <a:cs typeface="Times New Roman" pitchFamily="18" charset="0"/>
              </a:rPr>
              <a:t>Faster and more accurate workflow automation improves overall productivity.</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19200" y="381000"/>
            <a:ext cx="68580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SYSTEM REQUIREMENTS</a:t>
            </a:r>
            <a:endParaRPr lang="en-US" sz="2400" b="1" dirty="0">
              <a:latin typeface="Times New Roman" pitchFamily="18" charset="0"/>
              <a:cs typeface="Times New Roman" pitchFamily="18" charset="0"/>
            </a:endParaRPr>
          </a:p>
        </p:txBody>
      </p:sp>
      <p:sp>
        <p:nvSpPr>
          <p:cNvPr id="6" name="TextBox 5"/>
          <p:cNvSpPr txBox="1"/>
          <p:nvPr/>
        </p:nvSpPr>
        <p:spPr>
          <a:xfrm>
            <a:off x="838200" y="990600"/>
            <a:ext cx="7772400" cy="369332"/>
          </a:xfrm>
          <a:prstGeom prst="rect">
            <a:avLst/>
          </a:prstGeom>
          <a:noFill/>
        </p:spPr>
        <p:txBody>
          <a:bodyPr wrap="square" rtlCol="0">
            <a:spAutoFit/>
          </a:bodyPr>
          <a:lstStyle/>
          <a:p>
            <a:r>
              <a:rPr lang="en-US" b="1" dirty="0" smtClean="0">
                <a:latin typeface="Times New Roman" pitchFamily="18" charset="0"/>
                <a:cs typeface="Times New Roman" pitchFamily="18" charset="0"/>
              </a:rPr>
              <a:t>SOFTWARE REQUIREMENTS</a:t>
            </a:r>
            <a:endParaRPr lang="en-US" b="1" dirty="0">
              <a:latin typeface="Times New Roman" pitchFamily="18" charset="0"/>
              <a:cs typeface="Times New Roman" pitchFamily="18" charset="0"/>
            </a:endParaRPr>
          </a:p>
        </p:txBody>
      </p:sp>
      <p:graphicFrame>
        <p:nvGraphicFramePr>
          <p:cNvPr id="7" name="Table 6"/>
          <p:cNvGraphicFramePr>
            <a:graphicFrameLocks noGrp="1"/>
          </p:cNvGraphicFramePr>
          <p:nvPr/>
        </p:nvGraphicFramePr>
        <p:xfrm>
          <a:off x="1066800" y="1600204"/>
          <a:ext cx="7010400" cy="4800595"/>
        </p:xfrm>
        <a:graphic>
          <a:graphicData uri="http://schemas.openxmlformats.org/drawingml/2006/table">
            <a:tbl>
              <a:tblPr firstRow="1" bandRow="1">
                <a:tableStyleId>{5C22544A-7EE6-4342-B048-85BDC9FD1C3A}</a:tableStyleId>
              </a:tblPr>
              <a:tblGrid>
                <a:gridCol w="3505200"/>
                <a:gridCol w="3505200"/>
              </a:tblGrid>
              <a:tr h="447565">
                <a:tc>
                  <a:txBody>
                    <a:bodyPr/>
                    <a:lstStyle/>
                    <a:p>
                      <a:pPr algn="ctr"/>
                      <a:r>
                        <a:rPr lang="en-US" b="1" dirty="0" smtClean="0">
                          <a:latin typeface="Times New Roman" pitchFamily="18" charset="0"/>
                          <a:cs typeface="Times New Roman" pitchFamily="18" charset="0"/>
                        </a:rPr>
                        <a:t>Requirement</a:t>
                      </a:r>
                      <a:endParaRPr lang="en-US" b="1" dirty="0">
                        <a:latin typeface="Times New Roman" pitchFamily="18" charset="0"/>
                        <a:cs typeface="Times New Roman" pitchFamily="18" charset="0"/>
                      </a:endParaRPr>
                    </a:p>
                  </a:txBody>
                  <a:tcPr/>
                </a:tc>
                <a:tc>
                  <a:txBody>
                    <a:bodyPr/>
                    <a:lstStyle/>
                    <a:p>
                      <a:pPr algn="ctr"/>
                      <a:r>
                        <a:rPr lang="en-US" dirty="0" smtClean="0">
                          <a:latin typeface="Times New Roman" pitchFamily="18" charset="0"/>
                          <a:cs typeface="Times New Roman" pitchFamily="18" charset="0"/>
                        </a:rPr>
                        <a:t>Specification</a:t>
                      </a:r>
                      <a:endParaRPr lang="en-US" dirty="0">
                        <a:latin typeface="Times New Roman" pitchFamily="18" charset="0"/>
                        <a:cs typeface="Times New Roman" pitchFamily="18" charset="0"/>
                      </a:endParaRPr>
                    </a:p>
                  </a:txBody>
                  <a:tcPr/>
                </a:tc>
              </a:tr>
              <a:tr h="447565">
                <a:tc>
                  <a:txBody>
                    <a:bodyPr/>
                    <a:lstStyle/>
                    <a:p>
                      <a:r>
                        <a:rPr lang="en-US" sz="1600" dirty="0">
                          <a:latin typeface="Times New Roman" pitchFamily="18" charset="0"/>
                          <a:cs typeface="Times New Roman" pitchFamily="18" charset="0"/>
                        </a:rPr>
                        <a:t>Operating System</a:t>
                      </a:r>
                    </a:p>
                  </a:txBody>
                  <a:tcPr anchor="ctr"/>
                </a:tc>
                <a:tc>
                  <a:txBody>
                    <a:bodyPr/>
                    <a:lstStyle/>
                    <a:p>
                      <a:r>
                        <a:rPr lang="en-US" sz="1600" dirty="0">
                          <a:latin typeface="Times New Roman" pitchFamily="18" charset="0"/>
                          <a:cs typeface="Times New Roman" pitchFamily="18" charset="0"/>
                        </a:rPr>
                        <a:t>Windows 11 / </a:t>
                      </a:r>
                      <a:r>
                        <a:rPr lang="en-US" sz="1600" dirty="0" err="1">
                          <a:latin typeface="Times New Roman" pitchFamily="18" charset="0"/>
                          <a:cs typeface="Times New Roman" pitchFamily="18" charset="0"/>
                        </a:rPr>
                        <a:t>Ubuntu</a:t>
                      </a:r>
                      <a:r>
                        <a:rPr lang="en-US" sz="1600" dirty="0">
                          <a:latin typeface="Times New Roman" pitchFamily="18" charset="0"/>
                          <a:cs typeface="Times New Roman" pitchFamily="18" charset="0"/>
                        </a:rPr>
                        <a:t> 22.04</a:t>
                      </a:r>
                    </a:p>
                  </a:txBody>
                  <a:tcPr anchor="ctr"/>
                </a:tc>
              </a:tr>
              <a:tr h="447565">
                <a:tc>
                  <a:txBody>
                    <a:bodyPr/>
                    <a:lstStyle/>
                    <a:p>
                      <a:r>
                        <a:rPr lang="en-US" sz="1600" dirty="0">
                          <a:latin typeface="Times New Roman" pitchFamily="18" charset="0"/>
                          <a:cs typeface="Times New Roman" pitchFamily="18" charset="0"/>
                        </a:rPr>
                        <a:t>Programming Language</a:t>
                      </a:r>
                    </a:p>
                  </a:txBody>
                  <a:tcPr anchor="ctr"/>
                </a:tc>
                <a:tc>
                  <a:txBody>
                    <a:bodyPr/>
                    <a:lstStyle/>
                    <a:p>
                      <a:r>
                        <a:rPr lang="en-US" sz="1600" dirty="0" smtClean="0">
                          <a:latin typeface="Times New Roman" pitchFamily="18" charset="0"/>
                          <a:cs typeface="Times New Roman" pitchFamily="18" charset="0"/>
                        </a:rPr>
                        <a:t>Python 3.11</a:t>
                      </a:r>
                      <a:endParaRPr lang="en-US" sz="1600" dirty="0">
                        <a:latin typeface="Times New Roman" pitchFamily="18" charset="0"/>
                        <a:cs typeface="Times New Roman" pitchFamily="18" charset="0"/>
                      </a:endParaRPr>
                    </a:p>
                  </a:txBody>
                  <a:tcPr/>
                </a:tc>
              </a:tr>
              <a:tr h="447565">
                <a:tc>
                  <a:txBody>
                    <a:bodyPr/>
                    <a:lstStyle/>
                    <a:p>
                      <a:r>
                        <a:rPr lang="en-US" sz="1600" dirty="0">
                          <a:latin typeface="Times New Roman" pitchFamily="18" charset="0"/>
                          <a:cs typeface="Times New Roman" pitchFamily="18" charset="0"/>
                        </a:rPr>
                        <a:t>Frontend</a:t>
                      </a:r>
                    </a:p>
                  </a:txBody>
                  <a:tcPr anchor="ctr"/>
                </a:tc>
                <a:tc>
                  <a:txBody>
                    <a:bodyPr/>
                    <a:lstStyle/>
                    <a:p>
                      <a:r>
                        <a:rPr lang="en-US" sz="1600" dirty="0">
                          <a:latin typeface="Times New Roman" pitchFamily="18" charset="0"/>
                          <a:cs typeface="Times New Roman" pitchFamily="18" charset="0"/>
                        </a:rPr>
                        <a:t>React.js</a:t>
                      </a:r>
                    </a:p>
                  </a:txBody>
                  <a:tcPr anchor="ctr"/>
                </a:tc>
              </a:tr>
              <a:tr h="447565">
                <a:tc>
                  <a:txBody>
                    <a:bodyPr/>
                    <a:lstStyle/>
                    <a:p>
                      <a:r>
                        <a:rPr lang="en-US" sz="1600" dirty="0">
                          <a:latin typeface="Times New Roman" pitchFamily="18" charset="0"/>
                          <a:cs typeface="Times New Roman" pitchFamily="18" charset="0"/>
                        </a:rPr>
                        <a:t>Backend</a:t>
                      </a:r>
                    </a:p>
                  </a:txBody>
                  <a:tcPr anchor="ctr"/>
                </a:tc>
                <a:tc>
                  <a:txBody>
                    <a:bodyPr/>
                    <a:lstStyle/>
                    <a:p>
                      <a:r>
                        <a:rPr lang="en-US" sz="1600" dirty="0">
                          <a:latin typeface="Times New Roman" pitchFamily="18" charset="0"/>
                          <a:cs typeface="Times New Roman" pitchFamily="18" charset="0"/>
                        </a:rPr>
                        <a:t>FastAPI</a:t>
                      </a:r>
                    </a:p>
                  </a:txBody>
                  <a:tcPr anchor="ctr"/>
                </a:tc>
              </a:tr>
              <a:tr h="447565">
                <a:tc>
                  <a:txBody>
                    <a:bodyPr/>
                    <a:lstStyle/>
                    <a:p>
                      <a:r>
                        <a:rPr lang="en-US" sz="1600" dirty="0">
                          <a:latin typeface="Times New Roman" pitchFamily="18" charset="0"/>
                          <a:cs typeface="Times New Roman" pitchFamily="18" charset="0"/>
                        </a:rPr>
                        <a:t>Database</a:t>
                      </a:r>
                    </a:p>
                  </a:txBody>
                  <a:tcPr anchor="ctr"/>
                </a:tc>
                <a:tc>
                  <a:txBody>
                    <a:bodyPr/>
                    <a:lstStyle/>
                    <a:p>
                      <a:r>
                        <a:rPr lang="en-US" sz="1600" dirty="0" err="1">
                          <a:latin typeface="Times New Roman" pitchFamily="18" charset="0"/>
                          <a:cs typeface="Times New Roman" pitchFamily="18" charset="0"/>
                        </a:rPr>
                        <a:t>PostgreSQL</a:t>
                      </a:r>
                      <a:r>
                        <a:rPr lang="en-US" sz="1600" dirty="0">
                          <a:latin typeface="Times New Roman" pitchFamily="18" charset="0"/>
                          <a:cs typeface="Times New Roman" pitchFamily="18" charset="0"/>
                        </a:rPr>
                        <a:t> / </a:t>
                      </a:r>
                      <a:r>
                        <a:rPr lang="en-US" sz="1600" dirty="0" err="1">
                          <a:latin typeface="Times New Roman" pitchFamily="18" charset="0"/>
                          <a:cs typeface="Times New Roman" pitchFamily="18" charset="0"/>
                        </a:rPr>
                        <a:t>MongoDB</a:t>
                      </a:r>
                      <a:endParaRPr lang="en-US" sz="1600" dirty="0">
                        <a:latin typeface="Times New Roman" pitchFamily="18" charset="0"/>
                        <a:cs typeface="Times New Roman" pitchFamily="18" charset="0"/>
                      </a:endParaRPr>
                    </a:p>
                  </a:txBody>
                  <a:tcPr anchor="ctr"/>
                </a:tc>
              </a:tr>
              <a:tr h="447565">
                <a:tc>
                  <a:txBody>
                    <a:bodyPr/>
                    <a:lstStyle/>
                    <a:p>
                      <a:r>
                        <a:rPr lang="en-US" sz="1600" dirty="0">
                          <a:latin typeface="Times New Roman" pitchFamily="18" charset="0"/>
                          <a:cs typeface="Times New Roman" pitchFamily="18" charset="0"/>
                        </a:rPr>
                        <a:t>Vector Database</a:t>
                      </a:r>
                    </a:p>
                  </a:txBody>
                  <a:tcPr anchor="ctr"/>
                </a:tc>
                <a:tc>
                  <a:txBody>
                    <a:bodyPr/>
                    <a:lstStyle/>
                    <a:p>
                      <a:r>
                        <a:rPr lang="en-US" sz="1600" dirty="0" err="1">
                          <a:latin typeface="Times New Roman" pitchFamily="18" charset="0"/>
                          <a:cs typeface="Times New Roman" pitchFamily="18" charset="0"/>
                        </a:rPr>
                        <a:t>ChromaDB</a:t>
                      </a:r>
                      <a:r>
                        <a:rPr lang="en-US" sz="1600" dirty="0">
                          <a:latin typeface="Times New Roman" pitchFamily="18" charset="0"/>
                          <a:cs typeface="Times New Roman" pitchFamily="18" charset="0"/>
                        </a:rPr>
                        <a:t> / FAISS</a:t>
                      </a:r>
                    </a:p>
                  </a:txBody>
                  <a:tcPr anchor="ctr"/>
                </a:tc>
              </a:tr>
              <a:tr h="447565">
                <a:tc>
                  <a:txBody>
                    <a:bodyPr/>
                    <a:lstStyle/>
                    <a:p>
                      <a:r>
                        <a:rPr lang="en-US" sz="1600" dirty="0">
                          <a:latin typeface="Times New Roman" pitchFamily="18" charset="0"/>
                          <a:cs typeface="Times New Roman" pitchFamily="18" charset="0"/>
                        </a:rPr>
                        <a:t>Large Language Model (LLM)</a:t>
                      </a:r>
                    </a:p>
                  </a:txBody>
                  <a:tcPr anchor="ctr"/>
                </a:tc>
                <a:tc>
                  <a:txBody>
                    <a:bodyPr/>
                    <a:lstStyle/>
                    <a:p>
                      <a:r>
                        <a:rPr lang="en-US" sz="1600" dirty="0">
                          <a:latin typeface="Times New Roman" pitchFamily="18" charset="0"/>
                          <a:cs typeface="Times New Roman" pitchFamily="18" charset="0"/>
                        </a:rPr>
                        <a:t>Llama 3 / Mistral / GPT</a:t>
                      </a:r>
                    </a:p>
                  </a:txBody>
                  <a:tcPr anchor="ctr"/>
                </a:tc>
              </a:tr>
              <a:tr h="447565">
                <a:tc>
                  <a:txBody>
                    <a:bodyPr/>
                    <a:lstStyle/>
                    <a:p>
                      <a:r>
                        <a:rPr lang="en-US" sz="1600" dirty="0">
                          <a:latin typeface="Times New Roman" pitchFamily="18" charset="0"/>
                          <a:cs typeface="Times New Roman" pitchFamily="18" charset="0"/>
                        </a:rPr>
                        <a:t>AI Framework</a:t>
                      </a:r>
                    </a:p>
                  </a:txBody>
                  <a:tcPr anchor="ctr"/>
                </a:tc>
                <a:tc>
                  <a:txBody>
                    <a:bodyPr/>
                    <a:lstStyle/>
                    <a:p>
                      <a:r>
                        <a:rPr lang="en-US" sz="1600" dirty="0" err="1">
                          <a:latin typeface="Times New Roman" pitchFamily="18" charset="0"/>
                          <a:cs typeface="Times New Roman" pitchFamily="18" charset="0"/>
                        </a:rPr>
                        <a:t>LangChain</a:t>
                      </a:r>
                      <a:endParaRPr lang="en-US" sz="1600" dirty="0">
                        <a:latin typeface="Times New Roman" pitchFamily="18" charset="0"/>
                        <a:cs typeface="Times New Roman" pitchFamily="18" charset="0"/>
                      </a:endParaRPr>
                    </a:p>
                  </a:txBody>
                  <a:tcPr anchor="ctr"/>
                </a:tc>
              </a:tr>
              <a:tr h="772510">
                <a:tc>
                  <a:txBody>
                    <a:bodyPr/>
                    <a:lstStyle/>
                    <a:p>
                      <a:r>
                        <a:rPr lang="en-US" sz="1600" dirty="0">
                          <a:latin typeface="Times New Roman" pitchFamily="18" charset="0"/>
                          <a:cs typeface="Times New Roman" pitchFamily="18" charset="0"/>
                        </a:rPr>
                        <a:t>Multi-Agent Framework</a:t>
                      </a:r>
                    </a:p>
                  </a:txBody>
                  <a:tcPr anchor="ctr"/>
                </a:tc>
                <a:tc>
                  <a:txBody>
                    <a:bodyPr/>
                    <a:lstStyle/>
                    <a:p>
                      <a:r>
                        <a:rPr lang="en-US" sz="1600" dirty="0" err="1" smtClean="0">
                          <a:latin typeface="Times New Roman" pitchFamily="18" charset="0"/>
                          <a:cs typeface="Times New Roman" pitchFamily="18" charset="0"/>
                        </a:rPr>
                        <a:t>LangGraph</a:t>
                      </a:r>
                      <a:r>
                        <a:rPr lang="en-US" sz="1600" dirty="0" smtClean="0">
                          <a:latin typeface="Times New Roman" pitchFamily="18" charset="0"/>
                          <a:cs typeface="Times New Roman" pitchFamily="18" charset="0"/>
                        </a:rPr>
                        <a:t> / </a:t>
                      </a:r>
                      <a:r>
                        <a:rPr lang="en-US" sz="1600" dirty="0" err="1" smtClean="0">
                          <a:latin typeface="Times New Roman" pitchFamily="18" charset="0"/>
                          <a:cs typeface="Times New Roman" pitchFamily="18" charset="0"/>
                        </a:rPr>
                        <a:t>CrewAI</a:t>
                      </a:r>
                      <a:r>
                        <a:rPr lang="en-US" sz="1600" dirty="0" smtClean="0">
                          <a:latin typeface="Times New Roman" pitchFamily="18" charset="0"/>
                          <a:cs typeface="Times New Roman" pitchFamily="18" charset="0"/>
                        </a:rPr>
                        <a:t> / </a:t>
                      </a:r>
                      <a:r>
                        <a:rPr lang="en-US" sz="1600" dirty="0" err="1" smtClean="0">
                          <a:latin typeface="Times New Roman" pitchFamily="18" charset="0"/>
                          <a:cs typeface="Times New Roman" pitchFamily="18" charset="0"/>
                        </a:rPr>
                        <a:t>AutoGen</a:t>
                      </a:r>
                      <a:endParaRPr lang="en-US" sz="1600" dirty="0">
                        <a:latin typeface="Times New Roman" pitchFamily="18" charset="0"/>
                        <a:cs typeface="Times New Roman" pitchFamily="18" charset="0"/>
                      </a:endParaRPr>
                    </a:p>
                  </a:txBody>
                  <a:tcPr anchor="ct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19200" y="381000"/>
            <a:ext cx="68580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SYSTEM REQUIREMENTS</a:t>
            </a:r>
            <a:endParaRPr lang="en-US" sz="2400" b="1" dirty="0">
              <a:latin typeface="Times New Roman" pitchFamily="18" charset="0"/>
              <a:cs typeface="Times New Roman" pitchFamily="18" charset="0"/>
            </a:endParaRPr>
          </a:p>
        </p:txBody>
      </p:sp>
      <p:sp>
        <p:nvSpPr>
          <p:cNvPr id="6" name="TextBox 5"/>
          <p:cNvSpPr txBox="1"/>
          <p:nvPr/>
        </p:nvSpPr>
        <p:spPr>
          <a:xfrm>
            <a:off x="838200" y="990600"/>
            <a:ext cx="7772400" cy="369332"/>
          </a:xfrm>
          <a:prstGeom prst="rect">
            <a:avLst/>
          </a:prstGeom>
          <a:noFill/>
        </p:spPr>
        <p:txBody>
          <a:bodyPr wrap="square" rtlCol="0">
            <a:spAutoFit/>
          </a:bodyPr>
          <a:lstStyle/>
          <a:p>
            <a:r>
              <a:rPr lang="en-US" b="1" dirty="0" smtClean="0">
                <a:latin typeface="Times New Roman" pitchFamily="18" charset="0"/>
                <a:cs typeface="Times New Roman" pitchFamily="18" charset="0"/>
              </a:rPr>
              <a:t>HARWARE REQUIREMENTS</a:t>
            </a:r>
            <a:endParaRPr lang="en-US" b="1" dirty="0">
              <a:latin typeface="Times New Roman" pitchFamily="18" charset="0"/>
              <a:cs typeface="Times New Roman" pitchFamily="18" charset="0"/>
            </a:endParaRPr>
          </a:p>
        </p:txBody>
      </p:sp>
      <p:graphicFrame>
        <p:nvGraphicFramePr>
          <p:cNvPr id="7" name="Table 6"/>
          <p:cNvGraphicFramePr>
            <a:graphicFrameLocks noGrp="1"/>
          </p:cNvGraphicFramePr>
          <p:nvPr/>
        </p:nvGraphicFramePr>
        <p:xfrm>
          <a:off x="1066800" y="1600204"/>
          <a:ext cx="7010400" cy="2816945"/>
        </p:xfrm>
        <a:graphic>
          <a:graphicData uri="http://schemas.openxmlformats.org/drawingml/2006/table">
            <a:tbl>
              <a:tblPr firstRow="1" bandRow="1">
                <a:tableStyleId>{5C22544A-7EE6-4342-B048-85BDC9FD1C3A}</a:tableStyleId>
              </a:tblPr>
              <a:tblGrid>
                <a:gridCol w="3505200"/>
                <a:gridCol w="3505200"/>
              </a:tblGrid>
              <a:tr h="447565">
                <a:tc>
                  <a:txBody>
                    <a:bodyPr/>
                    <a:lstStyle/>
                    <a:p>
                      <a:pPr algn="ctr"/>
                      <a:r>
                        <a:rPr lang="en-US" b="1" dirty="0" smtClean="0">
                          <a:latin typeface="Times New Roman" pitchFamily="18" charset="0"/>
                          <a:cs typeface="Times New Roman" pitchFamily="18" charset="0"/>
                        </a:rPr>
                        <a:t>Requirement</a:t>
                      </a:r>
                      <a:endParaRPr lang="en-US" b="1" dirty="0">
                        <a:latin typeface="Times New Roman" pitchFamily="18" charset="0"/>
                        <a:cs typeface="Times New Roman" pitchFamily="18" charset="0"/>
                      </a:endParaRPr>
                    </a:p>
                  </a:txBody>
                  <a:tcPr/>
                </a:tc>
                <a:tc>
                  <a:txBody>
                    <a:bodyPr/>
                    <a:lstStyle/>
                    <a:p>
                      <a:pPr algn="ctr"/>
                      <a:r>
                        <a:rPr lang="en-US" dirty="0" smtClean="0">
                          <a:latin typeface="Times New Roman" pitchFamily="18" charset="0"/>
                          <a:cs typeface="Times New Roman" pitchFamily="18" charset="0"/>
                        </a:rPr>
                        <a:t>Specification</a:t>
                      </a:r>
                      <a:endParaRPr lang="en-US" dirty="0">
                        <a:latin typeface="Times New Roman" pitchFamily="18" charset="0"/>
                        <a:cs typeface="Times New Roman" pitchFamily="18" charset="0"/>
                      </a:endParaRPr>
                    </a:p>
                  </a:txBody>
                  <a:tcPr/>
                </a:tc>
              </a:tr>
              <a:tr h="447565">
                <a:tc>
                  <a:txBody>
                    <a:bodyPr/>
                    <a:lstStyle/>
                    <a:p>
                      <a:r>
                        <a:rPr lang="en-US" sz="1600" dirty="0">
                          <a:latin typeface="Times New Roman" pitchFamily="18" charset="0"/>
                          <a:cs typeface="Times New Roman" pitchFamily="18" charset="0"/>
                        </a:rPr>
                        <a:t>Processor</a:t>
                      </a:r>
                    </a:p>
                  </a:txBody>
                  <a:tcPr anchor="ctr"/>
                </a:tc>
                <a:tc>
                  <a:txBody>
                    <a:bodyPr/>
                    <a:lstStyle/>
                    <a:p>
                      <a:r>
                        <a:rPr lang="en-US" sz="1600" dirty="0">
                          <a:latin typeface="Times New Roman" pitchFamily="18" charset="0"/>
                          <a:cs typeface="Times New Roman" pitchFamily="18" charset="0"/>
                        </a:rPr>
                        <a:t>Intel Core i5/i7 (or equivalent)</a:t>
                      </a:r>
                    </a:p>
                  </a:txBody>
                  <a:tcPr anchor="ctr"/>
                </a:tc>
              </a:tr>
              <a:tr h="447565">
                <a:tc>
                  <a:txBody>
                    <a:bodyPr/>
                    <a:lstStyle/>
                    <a:p>
                      <a:r>
                        <a:rPr lang="en-US" sz="1600" dirty="0">
                          <a:latin typeface="Times New Roman" pitchFamily="18" charset="0"/>
                          <a:cs typeface="Times New Roman" pitchFamily="18" charset="0"/>
                        </a:rPr>
                        <a:t>RAM</a:t>
                      </a:r>
                    </a:p>
                  </a:txBody>
                  <a:tcPr anchor="ctr"/>
                </a:tc>
                <a:tc>
                  <a:txBody>
                    <a:bodyPr/>
                    <a:lstStyle/>
                    <a:p>
                      <a:r>
                        <a:rPr lang="de-DE" sz="1600" dirty="0">
                          <a:latin typeface="Times New Roman" pitchFamily="18" charset="0"/>
                          <a:cs typeface="Times New Roman" pitchFamily="18" charset="0"/>
                        </a:rPr>
                        <a:t>16 GB (Minimum 8 GB)</a:t>
                      </a:r>
                    </a:p>
                  </a:txBody>
                  <a:tcPr anchor="ctr"/>
                </a:tc>
              </a:tr>
              <a:tr h="447565">
                <a:tc>
                  <a:txBody>
                    <a:bodyPr/>
                    <a:lstStyle/>
                    <a:p>
                      <a:r>
                        <a:rPr lang="en-US" sz="1600" dirty="0" smtClean="0">
                          <a:latin typeface="Times New Roman" pitchFamily="18" charset="0"/>
                          <a:cs typeface="Times New Roman" pitchFamily="18" charset="0"/>
                        </a:rPr>
                        <a:t>Storage </a:t>
                      </a:r>
                      <a:endParaRPr lang="en-US" sz="1600" dirty="0">
                        <a:latin typeface="Times New Roman" pitchFamily="18" charset="0"/>
                        <a:cs typeface="Times New Roman" pitchFamily="18" charset="0"/>
                      </a:endParaRPr>
                    </a:p>
                  </a:txBody>
                  <a:tcPr anchor="ctr"/>
                </a:tc>
                <a:tc>
                  <a:txBody>
                    <a:bodyPr/>
                    <a:lstStyle/>
                    <a:p>
                      <a:r>
                        <a:rPr lang="en-US" sz="1600" dirty="0">
                          <a:latin typeface="Times New Roman" pitchFamily="18" charset="0"/>
                          <a:cs typeface="Times New Roman" pitchFamily="18" charset="0"/>
                        </a:rPr>
                        <a:t>512 GB SSD</a:t>
                      </a:r>
                    </a:p>
                  </a:txBody>
                  <a:tcPr anchor="ctr"/>
                </a:tc>
              </a:tr>
              <a:tr h="447565">
                <a:tc>
                  <a:txBody>
                    <a:bodyPr/>
                    <a:lstStyle/>
                    <a:p>
                      <a:r>
                        <a:rPr lang="en-US" sz="1600" dirty="0">
                          <a:latin typeface="Times New Roman" pitchFamily="18" charset="0"/>
                          <a:cs typeface="Times New Roman" pitchFamily="18" charset="0"/>
                        </a:rPr>
                        <a:t>Internet Connection</a:t>
                      </a:r>
                    </a:p>
                  </a:txBody>
                  <a:tcPr anchor="ctr"/>
                </a:tc>
                <a:tc>
                  <a:txBody>
                    <a:bodyPr/>
                    <a:lstStyle/>
                    <a:p>
                      <a:r>
                        <a:rPr lang="en-US" sz="1600" dirty="0">
                          <a:latin typeface="Times New Roman" pitchFamily="18" charset="0"/>
                          <a:cs typeface="Times New Roman" pitchFamily="18" charset="0"/>
                        </a:rPr>
                        <a:t>Required</a:t>
                      </a:r>
                    </a:p>
                  </a:txBody>
                  <a:tcPr anchor="ctr"/>
                </a:tc>
              </a:tr>
              <a:tr h="447565">
                <a:tc>
                  <a:txBody>
                    <a:bodyPr/>
                    <a:lstStyle/>
                    <a:p>
                      <a:r>
                        <a:rPr lang="en-US" sz="1600" dirty="0">
                          <a:latin typeface="Times New Roman" pitchFamily="18" charset="0"/>
                          <a:cs typeface="Times New Roman" pitchFamily="18" charset="0"/>
                        </a:rPr>
                        <a:t>GPU</a:t>
                      </a:r>
                    </a:p>
                  </a:txBody>
                  <a:tcPr anchor="ctr"/>
                </a:tc>
                <a:tc>
                  <a:txBody>
                    <a:bodyPr/>
                    <a:lstStyle/>
                    <a:p>
                      <a:r>
                        <a:rPr lang="en-US" sz="1600" dirty="0">
                          <a:latin typeface="Times New Roman" pitchFamily="18" charset="0"/>
                          <a:cs typeface="Times New Roman" pitchFamily="18" charset="0"/>
                        </a:rPr>
                        <a:t>NVIDIA GPU (Optional for local LLM execution)</a:t>
                      </a:r>
                    </a:p>
                  </a:txBody>
                  <a:tcPr anchor="ct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90600" y="457200"/>
            <a:ext cx="7315200" cy="461665"/>
          </a:xfrm>
          <a:prstGeom prst="rect">
            <a:avLst/>
          </a:prstGeom>
          <a:noFill/>
        </p:spPr>
        <p:txBody>
          <a:bodyPr wrap="square" rtlCol="0">
            <a:spAutoFit/>
          </a:bodyPr>
          <a:lstStyle/>
          <a:p>
            <a:pPr algn="ctr"/>
            <a:r>
              <a:rPr lang="en-US" sz="2400" b="1" dirty="0" smtClean="0">
                <a:latin typeface="Times New Roman" pitchFamily="18" charset="0"/>
                <a:cs typeface="Times New Roman" pitchFamily="18" charset="0"/>
              </a:rPr>
              <a:t>CONCLUSION</a:t>
            </a:r>
            <a:endParaRPr lang="en-US" sz="2400" b="1" dirty="0">
              <a:latin typeface="Times New Roman" pitchFamily="18" charset="0"/>
              <a:cs typeface="Times New Roman" pitchFamily="18" charset="0"/>
            </a:endParaRPr>
          </a:p>
        </p:txBody>
      </p:sp>
      <p:sp>
        <p:nvSpPr>
          <p:cNvPr id="4" name="TextBox 3"/>
          <p:cNvSpPr txBox="1"/>
          <p:nvPr/>
        </p:nvSpPr>
        <p:spPr>
          <a:xfrm>
            <a:off x="914400" y="990600"/>
            <a:ext cx="7620000" cy="5028556"/>
          </a:xfrm>
          <a:prstGeom prst="rect">
            <a:avLst/>
          </a:prstGeom>
          <a:noFill/>
        </p:spPr>
        <p:txBody>
          <a:bodyPr wrap="square" rtlCol="0">
            <a:spAutoFit/>
          </a:bodyPr>
          <a:lstStyle/>
          <a:p>
            <a:pPr>
              <a:lnSpc>
                <a:spcPct val="150000"/>
              </a:lnSpc>
            </a:pPr>
            <a:r>
              <a:rPr lang="en-US" dirty="0" smtClean="0">
                <a:latin typeface="Times New Roman" pitchFamily="18" charset="0"/>
                <a:cs typeface="Times New Roman" pitchFamily="18" charset="0"/>
              </a:rPr>
              <a:t>The proposed Secure and Autonomous Multi-Agent Enterprise Assistant provides an intelligent and secure approach to enterprise workflow automation by integrating multiple specialized AI agents within a single platform. The system combines Retrieval-Augmented Generation (RAG), Zero-Trust Security, Role-Based Access Control (RBAC), Explainable AI (XAI), and Human-in-the-Loop validation to improve response accuracy, strengthen security, and increase transparency in decision-making. By reducing AI hallucinations and enabling efficient collaboration among AI agents, the proposed system overcomes the limitations of traditional enterprise assistants. Therefore, this project offers a scalable, reliable, and efficient solution for modern enterprise environments and contributes to the future development of secure AI-driven workflow management.</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TotalTime>
  <Words>2416</Words>
  <Application>Microsoft Office PowerPoint</Application>
  <PresentationFormat>On-screen Show (4:3)</PresentationFormat>
  <Paragraphs>220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4</cp:revision>
  <dcterms:created xsi:type="dcterms:W3CDTF">2026-08-17T03:28:26Z</dcterms:created>
  <dcterms:modified xsi:type="dcterms:W3CDTF">2026-08-17T06:40:45Z</dcterms:modified>
</cp:coreProperties>
</file>